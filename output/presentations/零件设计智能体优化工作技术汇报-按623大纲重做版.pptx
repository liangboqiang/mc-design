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53803ad084bbd" /><Relationship Type="http://schemas.openxmlformats.org/officeDocument/2006/relationships/extended-properties" Target="/docProps/app.xml" Id="Rb796d30e7c7744f0" /><Relationship Type="http://schemas.openxmlformats.org/officeDocument/2006/relationships/officeDocument" Target="/ppt/presentation.xml" Id="R31f4c9c319b2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5efaa8a904387"/>
  </p:sldMasterIdLst>
  <p:notesMasterIdLst>
    <p:notesMasterId xmlns:r="http://schemas.openxmlformats.org/officeDocument/2006/relationships" r:id="R186b84c268b54445"/>
  </p:notesMasterIdLst>
  <p:sldIdLst>
    <p:sldId xmlns:r="http://schemas.openxmlformats.org/officeDocument/2006/relationships" id="256" r:id="R379e97e87d6a4cff"/>
    <p:sldId xmlns:r="http://schemas.openxmlformats.org/officeDocument/2006/relationships" id="257" r:id="R0cce32b03a05486e"/>
    <p:sldId xmlns:r="http://schemas.openxmlformats.org/officeDocument/2006/relationships" id="258" r:id="R8848eb993964401f"/>
    <p:sldId xmlns:r="http://schemas.openxmlformats.org/officeDocument/2006/relationships" id="259" r:id="R1294762c6cc54af2"/>
    <p:sldId xmlns:r="http://schemas.openxmlformats.org/officeDocument/2006/relationships" id="260" r:id="R2f91d4808faf47cb"/>
    <p:sldId xmlns:r="http://schemas.openxmlformats.org/officeDocument/2006/relationships" id="261" r:id="Rb6efc6f728de48eb"/>
    <p:sldId xmlns:r="http://schemas.openxmlformats.org/officeDocument/2006/relationships" id="262" r:id="R95d1a79fdf6e45ff"/>
    <p:sldId xmlns:r="http://schemas.openxmlformats.org/officeDocument/2006/relationships" id="263" r:id="Rff223ef0002e4eb5"/>
    <p:sldId xmlns:r="http://schemas.openxmlformats.org/officeDocument/2006/relationships" id="264" r:id="Rf1ca3adec3a34c4d"/>
    <p:sldId xmlns:r="http://schemas.openxmlformats.org/officeDocument/2006/relationships" id="265" r:id="Ra07eecdebc0b4b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2473fc47a4401" /><Relationship Type="http://schemas.openxmlformats.org/officeDocument/2006/relationships/slideMaster" Target="/ppt/slideMasters/slideMaster1.xml" Id="Ra455efaa8a904387" /><Relationship Type="http://schemas.openxmlformats.org/officeDocument/2006/relationships/notesMaster" Target="/ppt/notesMasters/notesMaster1.xml" Id="R186b84c268b54445" /><Relationship Type="http://schemas.openxmlformats.org/officeDocument/2006/relationships/presProps" Target="/ppt/presProps.xml" Id="R0b77980a9dd04069" /><Relationship Type="http://schemas.openxmlformats.org/officeDocument/2006/relationships/tableStyles" Target="/ppt/tableStyles.xml" Id="Rd8ffdceee9064ac8" /><Relationship Type="http://schemas.openxmlformats.org/officeDocument/2006/relationships/slide" Target="/ppt/slides/slide1.xml" Id="R379e97e87d6a4cff" /><Relationship Type="http://schemas.openxmlformats.org/officeDocument/2006/relationships/slide" Target="/ppt/slides/slide2.xml" Id="R0cce32b03a05486e" /><Relationship Type="http://schemas.openxmlformats.org/officeDocument/2006/relationships/slide" Target="/ppt/slides/slide3.xml" Id="R8848eb993964401f" /><Relationship Type="http://schemas.openxmlformats.org/officeDocument/2006/relationships/slide" Target="/ppt/slides/slide4.xml" Id="R1294762c6cc54af2" /><Relationship Type="http://schemas.openxmlformats.org/officeDocument/2006/relationships/slide" Target="/ppt/slides/slide5.xml" Id="R2f91d4808faf47cb" /><Relationship Type="http://schemas.openxmlformats.org/officeDocument/2006/relationships/slide" Target="/ppt/slides/slide6.xml" Id="Rb6efc6f728de48eb" /><Relationship Type="http://schemas.openxmlformats.org/officeDocument/2006/relationships/slide" Target="/ppt/slides/slide7.xml" Id="R95d1a79fdf6e45ff" /><Relationship Type="http://schemas.openxmlformats.org/officeDocument/2006/relationships/slide" Target="/ppt/slides/slide8.xml" Id="Rff223ef0002e4eb5" /><Relationship Type="http://schemas.openxmlformats.org/officeDocument/2006/relationships/slide" Target="/ppt/slides/slide9.xml" Id="Rf1ca3adec3a34c4d" /><Relationship Type="http://schemas.openxmlformats.org/officeDocument/2006/relationships/slide" Target="/ppt/slides/slide10.xml" Id="Ra07eecdebc0b4b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14abe3f9f8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5189d609c4fab" /><Relationship Type="http://schemas.openxmlformats.org/officeDocument/2006/relationships/notesMaster" Target="/ppt/notesMasters/notesMaster1.xml" Id="Raf9d83b84f4548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f997f292d4102" /><Relationship Type="http://schemas.openxmlformats.org/officeDocument/2006/relationships/notesMaster" Target="/ppt/notesMasters/notesMaster1.xml" Id="R57fdecb9760448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ea646c14e642b9" /><Relationship Type="http://schemas.openxmlformats.org/officeDocument/2006/relationships/notesMaster" Target="/ppt/notesMasters/notesMaster1.xml" Id="Rfb876ba9c3f84a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120d4951f74974" /><Relationship Type="http://schemas.openxmlformats.org/officeDocument/2006/relationships/notesMaster" Target="/ppt/notesMasters/notesMaster1.xml" Id="Re9727128ba1d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19072b8e340f7" /><Relationship Type="http://schemas.openxmlformats.org/officeDocument/2006/relationships/notesMaster" Target="/ppt/notesMasters/notesMaster1.xml" Id="Rffc65783ecd446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38f2e6d2940a8" /><Relationship Type="http://schemas.openxmlformats.org/officeDocument/2006/relationships/notesMaster" Target="/ppt/notesMasters/notesMaster1.xml" Id="R5f23600016ec40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63a75901d74031" /><Relationship Type="http://schemas.openxmlformats.org/officeDocument/2006/relationships/notesMaster" Target="/ppt/notesMasters/notesMaster1.xml" Id="R5a7e81d0ccb7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3d7f77d366411a" /><Relationship Type="http://schemas.openxmlformats.org/officeDocument/2006/relationships/notesMaster" Target="/ppt/notesMasters/notesMaster1.xml" Id="Ra01ba9af73b141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d04e995822442b" /><Relationship Type="http://schemas.openxmlformats.org/officeDocument/2006/relationships/notesMaster" Target="/ppt/notesMasters/notesMaster1.xml" Id="R4bb91ddc48c24b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6b1a5a4f864ad1" /><Relationship Type="http://schemas.openxmlformats.org/officeDocument/2006/relationships/notesMaster" Target="/ppt/notesMasters/notesMaster1.xml" Id="R0e8588fb9935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5d1381eb9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7c11bbcd5468c" /><Relationship Type="http://schemas.openxmlformats.org/officeDocument/2006/relationships/slideLayout" Target="/ppt/slideLayouts/slideLayout1.xml" Id="Rf57fe3825e4e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fe3825e4e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3dd66421a43b2" /><Relationship Type="http://schemas.openxmlformats.org/officeDocument/2006/relationships/image" Target="/ppt/media/image.png" Id="R91700f45242c4998" /><Relationship Type="http://schemas.openxmlformats.org/officeDocument/2006/relationships/notesSlide" Target="/ppt/notesSlides/notesSlide1.xml" Id="R9edbf0ff6d3c42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e09c6071145fe" /><Relationship Type="http://schemas.openxmlformats.org/officeDocument/2006/relationships/notesSlide" Target="/ppt/notesSlides/notesSlide2.xml" Id="Rba8a744a8635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9894e8067424f" /><Relationship Type="http://schemas.openxmlformats.org/officeDocument/2006/relationships/notesSlide" Target="/ppt/notesSlides/notesSlide3.xml" Id="Rd504eb0ee21e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375e77404a5c" /><Relationship Type="http://schemas.openxmlformats.org/officeDocument/2006/relationships/notesSlide" Target="/ppt/notesSlides/notesSlide4.xml" Id="R378e57a6cdb8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f5643b17046bc" /><Relationship Type="http://schemas.openxmlformats.org/officeDocument/2006/relationships/notesSlide" Target="/ppt/notesSlides/notesSlide5.xml" Id="Rd5c1312dd107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b5507b954235" /><Relationship Type="http://schemas.openxmlformats.org/officeDocument/2006/relationships/notesSlide" Target="/ppt/notesSlides/notesSlide6.xml" Id="Re98a61fa5579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bc0a9833c4bc6" /><Relationship Type="http://schemas.openxmlformats.org/officeDocument/2006/relationships/notesSlide" Target="/ppt/notesSlides/notesSlide7.xml" Id="R703716408545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b04f18a7f45c4" /><Relationship Type="http://schemas.openxmlformats.org/officeDocument/2006/relationships/image" Target="/ppt/media/image2.png" Id="R00ab8fde20e24e5b" /><Relationship Type="http://schemas.openxmlformats.org/officeDocument/2006/relationships/notesSlide" Target="/ppt/notesSlides/notesSlide8.xml" Id="R9b578819986f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ba7979226472b" /><Relationship Type="http://schemas.openxmlformats.org/officeDocument/2006/relationships/notesSlide" Target="/ppt/notesSlides/notesSlide9.xml" Id="Rb513ef3343d44d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8939bd1f463a" /><Relationship Type="http://schemas.openxmlformats.org/officeDocument/2006/relationships/notesSlide" Target="/ppt/notesSlides/notesSlide10.xml" Id="Rb811a412150847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30D8A-6611-4B54-9BF4-AFEDBFF4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00f45242c4998"/>
          <a:srcRect xmlns:a="http://schemas.openxmlformats.org/drawingml/2006/main" l="23159" t="0" r="23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742950"/>
            <a:ext cx="4724400" cy="4953000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68580-3CF1-47E7-B142-5AD410B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667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0B89-BE76-46E1-9931-7A11A1C5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620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2033"/>
                </a:solidFill>
              </a:defRPr>
            </a:pPr>
            <a:r>
              <a:rPr sz="4125" b="1">
                <a:solidFill>
                  <a:srgbClr val="102033"/>
                </a:solidFill>
              </a:rPr>
              <a:t>零件设计智能体优化工作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7F071-E138-4B02-9856-4F17FCE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55C99"/>
                </a:solidFill>
              </a:defRPr>
            </a:pPr>
            <a:r>
              <a:rPr sz="3750" b="1">
                <a:solidFill>
                  <a:srgbClr val="255C99"/>
                </a:solidFill>
              </a:rPr>
              <a:t>技术汇报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9F954-EBA3-400A-B181-6B915F5E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447"/>
                </a:solidFill>
              </a:defRPr>
            </a:pPr>
            <a:r>
              <a:rPr sz="1650" b="0">
                <a:solidFill>
                  <a:srgbClr val="243447"/>
                </a:solidFill>
              </a:rPr>
              <a:t>按《零件设计智能体优化工作大纲623执行安排》汇报</a:t>
            </a:r>
          </a:p>
          <a:p xmlns:a="http://schemas.openxmlformats.org/drawingml/2006/main">
            <a:pPr algn="l">
              <a:defRPr sz="1650" b="0">
                <a:solidFill>
                  <a:srgbClr val="243447"/>
                </a:solidFill>
              </a:defRPr>
            </a:pPr>
            <a:r>
              <a:rPr sz="1650" b="0">
                <a:solidFill>
                  <a:srgbClr val="243447"/>
                </a:solidFill>
              </a:rPr>
              <a:t>重点呈现工作方式、工作内容、工作量、阶段结果与演示安排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BCFB7-B9BE-4489-B864-D7251982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CFDC9-32EC-45FB-AC15-AA742D3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汇报结构调整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11FDD-F7BF-44A5-A0D1-BDFD2929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第2-8页讲方法和工作量；第9-10页集中讲阶段结果和演示内容。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3D430-1B1C-43F3-BE40-229736DC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48A"/>
                </a:solidFill>
              </a:defRPr>
            </a:pPr>
            <a:r>
              <a:rPr sz="1350" b="1">
                <a:solidFill>
                  <a:srgbClr val="62748A"/>
                </a:solidFill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937682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C081C3-9601-4C8B-9E5E-F3ECFC1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汇报结构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50B36-75EB-46F8-A4FB-478DFA2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本次汇报按623大纲展开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5EAC6-AF9E-443F-8946-AD310F1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BBE31-CD36-4CD0-B76C-5360642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C9111-6FAE-4DBA-8727-1C3B3D09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DE17C-68CC-417E-9FA4-8ED14615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48A"/>
                </a:solidFill>
              </a:defRPr>
            </a:pPr>
            <a:r>
              <a:rPr sz="1425" b="0">
                <a:solidFill>
                  <a:srgbClr val="62748A"/>
                </a:solidFill>
              </a:rPr>
              <a:t>本页只说明汇报结构和工作线，不提前呈现测试结果。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1FAFA-B381-43F2-B960-C476DD1B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D5818-5B50-4A78-83A9-462A231E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0225"/>
            <a:ext cx="2724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623大纲工作线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4047-7BCC-4691-9AF3-7A87E67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0225"/>
            <a:ext cx="3943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工作方式与核心产出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9D374-322C-43DB-8275-4A77125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0225"/>
            <a:ext cx="3467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本次汇报重点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7CF3F-FB7B-4A62-B07F-D2963B0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C9407-C1E6-4A80-81DB-D5AB826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1. 四大系统接口源代码分析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E9639-9347-4B46-8EB4-7568862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D2020-A54B-4DBC-A69E-FB7201F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分析IPM/QPP/ECMS/TC工具能力、入参出参与错误影响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40C3D-56DC-4013-859D-6FB14D64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F71FD-9B9A-40D5-9F9E-6109CC8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讲清工具边界和改进依据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482E9-C1AA-4A71-BB07-D0A7F55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5F617-6060-425D-A49C-D817A17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2. 四大系统接口模块说明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D2AF0-A615-42A0-87C0-1813149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13D1C-72EA-499E-A169-E6E36121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67025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按模板形成7份接口/工具说明，支撑智能体调用改进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B1486-9256-485C-9A4E-1A339D92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6B718-6F5F-4191-86D1-9832AEA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67025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讲清文档化和规则化过程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99EAD-4A13-495C-9548-BB8D83C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C12BB-33BE-4BB5-BD7C-19F5843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3. 业务专家操作示例集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CEE90-9C8F-4F21-9896-647FAEC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242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05F36-70B3-4569-935B-CC7D562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围绕7个任务沉淀真实操作样例，目标每任务不少于10个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5CD123-3CE5-4601-B90F-F160B02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C88D6-033B-42DD-9037-57CF77E4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讲清业务经验如何转为训练材料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178DD-7E4F-4632-B116-1F193E7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886B9-C6E8-453B-ABAD-67122D3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4. 测试案例集与评价标准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40A9EB-7B7D-4CCD-BA7C-1F8B3F12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1B06D-07A8-42ED-AC96-20F1547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52875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7个任务、每任务5类场景，形成输入/期望/偏差标准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42E3AB-A0A1-47E6-992C-89A64BA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494F44-1857-4037-8A89-F35FBE4C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讲清客观评测方法和工作量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3AC504-B715-4573-9BBC-DB40E997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D6C5E6-77AC-4DBB-BEA0-EAA1911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5. 用户使用说明书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6A8DDA-8608-4348-884C-774B306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00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57D824-6579-4CEF-B9F7-52F2050C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9580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从用户视角说明功能、提示词、输入要求、状态和异常处理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8D157-9C15-4B3C-AE2B-5421E8CC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00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6AE0DF-C920-42B6-9858-12AB4DDC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讲清交付给业务人员的可用材料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7E760C-45ED-4EDD-AEF4-588D8F8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6B4891-6DBF-459F-830E-7F5226F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6. 智能体模块化拆解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459AA8-69DA-445E-BDBA-94A468C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0E101-3723-4B85-97AC-6E572091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38725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将总智能体拆为7个独立智能体，便于测试、复用和迭代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B9CCD8-FE7D-4DE1-8FE8-235C81A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50E03D-F722-4943-945B-3790CDA3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38725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讲清软件模型和复用基础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9EAEF8-CEE5-435F-ABE7-608CF2C7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C4A003-D94F-492B-ACF1-2B7E7D21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7. 持续改进操作说明书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A6AD4A-A32B-49E4-9042-61215F1B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95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2F09C3-6E48-4A4A-AD2E-081BD20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8165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把错误处理、复测、稳定性提升沉淀为操作指南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DA4A72-59E7-4810-9896-863D3468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959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CC3891-B067-462F-8B94-BA569CE6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81650"/>
            <a:ext cx="346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讲清后续自主改进机制</a:t>
            </a:r>
          </a:p>
        </p:txBody>
      </p:sp>
    </p:spTree>
    <p:extLst>
      <p:ext uri="{BB962C8B-B14F-4D97-AF65-F5344CB8AC3E}">
        <p14:creationId xmlns:p14="http://schemas.microsoft.com/office/powerpoint/2010/main" val="1161895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A0580-6C54-4985-9737-84EB12E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FE4D4-C5E1-4A4B-B6AB-A3DB259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工作总方法：先补资料，再沉淀规则，最后复测闭环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0E495-4F93-46C4-8DFD-4177C885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AA398-39A0-4382-BC0A-0135C764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19150-BF65-4F0A-95EA-E510FA3A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299F3-6D0C-40E1-80DD-063F479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48A"/>
                </a:solidFill>
              </a:defRPr>
            </a:pPr>
            <a:r>
              <a:rPr sz="1425" b="0">
                <a:solidFill>
                  <a:srgbClr val="62748A"/>
                </a:solidFill>
              </a:rPr>
              <a:t>623安排不是单点调参，而是把“接口事实、业务经验、测试标准、用户说明、软件拆分”串成可持续迭代流程。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322F-5B19-4CEE-A2DC-297C6A4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D7703-5885-477D-B64A-C22537E5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8BF7-F0BB-4601-9289-DF5B3B4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5C99"/>
                </a:solidFill>
              </a:defRPr>
            </a:pPr>
            <a:r>
              <a:rPr sz="2100" b="1">
                <a:solidFill>
                  <a:srgbClr val="255C99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3AB2D-3939-4B1E-BE37-630C3ED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源码事实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404A1-58B2-46AB-A0B2-BE131BC3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识别四大系统工具能力、接口字段和失败影响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9A1C6-962E-46FA-B6E6-CF9807D6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B4F70-1E24-4231-BCFE-A3D9D31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F0A67-85EB-429C-AD2C-25C7663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</a:defRPr>
            </a:pPr>
            <a:r>
              <a:rPr sz="2100" b="1">
                <a:solidFill>
                  <a:srgbClr val="00A6A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1F943-4058-4898-A799-067EA8F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接口说明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CCD85-E5E1-4DD3-9423-AD02F41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把工具能力写成智能体可引用的模块说明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7B7FA-CDBC-4BCD-999C-5F65437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7BE2D-51A1-4F69-94AE-B6893088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E6E66-0ED3-4335-AF01-0E0DCB9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55A"/>
                </a:solidFill>
              </a:defRPr>
            </a:pPr>
            <a:r>
              <a:rPr sz="2100" b="1">
                <a:solidFill>
                  <a:srgbClr val="2F855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7BE86-781E-4B27-9B25-AFEC97CB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业务示例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2CCBB-8D2A-43F1-ADF8-2A3D363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把专家经验拆成可学习、可复现的操作样例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712E8-350C-4296-9CBC-405D7E1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3E588-D44A-46E6-AA9E-097214CF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90D9F-B4C8-4EA4-807B-407A831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7A1C"/>
                </a:solidFill>
              </a:defRPr>
            </a:pPr>
            <a:r>
              <a:rPr sz="2100" b="1">
                <a:solidFill>
                  <a:srgbClr val="C47A1C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1C19D-6E15-447D-8490-D0A4C65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测试案例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04F76-1355-4B4B-BDDF-F15ADA99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用输入、期望输出和允许偏差定义评测标准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8958E-A73F-4F73-A4C3-86FE43C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2762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D62A8-3AB8-48EC-AE6C-9905199D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52FED-70FE-446C-9004-6BF99730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05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5C99"/>
                </a:solidFill>
              </a:defRPr>
            </a:pPr>
            <a:r>
              <a:rPr sz="2100" b="1">
                <a:solidFill>
                  <a:srgbClr val="255C99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FB396-F44D-4738-8CA1-9A1BA29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14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用户说明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F7A35-AAC8-4AE0-A3FC-9612CBFA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29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让业务用户知道怎么问、看什么、错了怎么处理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C30A8-31EF-44C8-8B80-3137B94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762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BA344-E8F3-43B8-B760-7217259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FE14F-A2E6-4926-9A25-D38B364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05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6A6"/>
                </a:solidFill>
              </a:defRPr>
            </a:pPr>
            <a:r>
              <a:rPr sz="2100" b="1">
                <a:solidFill>
                  <a:srgbClr val="00A6A6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260B6-021F-45EE-8433-B463DF16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14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模块拆解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3D1F3-7FA8-4D1E-B180-861DF49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7个任务独立成智能体，降低测试和复用成本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3DD45-4930-43F4-AC9E-D690F37C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2762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494699-D74F-4A76-87A5-D78E90A5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EE6875-0CE3-4984-9BF6-4DB3A57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855A"/>
                </a:solidFill>
              </a:defRPr>
            </a:pPr>
            <a:r>
              <a:rPr sz="2100" b="1">
                <a:solidFill>
                  <a:srgbClr val="2F855A"/>
                </a:solidFill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4A00C-39A6-4B7D-84FF-14191225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147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持续改进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0467B-12FE-49D7-A766-8F51B82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A"/>
                </a:solidFill>
              </a:defRPr>
            </a:pPr>
            <a:r>
              <a:rPr sz="1200" b="0">
                <a:solidFill>
                  <a:srgbClr val="62748A"/>
                </a:solidFill>
              </a:rPr>
              <a:t>记录错误、定位原因、改规则、复测验证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96939D-AF01-47AC-8FBA-AFC0605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闭环原则：每次优化都要能追溯到资料依据、测试案例和复测记录。</a:t>
            </a:r>
          </a:p>
        </p:txBody>
      </p:sp>
    </p:spTree>
    <p:extLst>
      <p:ext uri="{BB962C8B-B14F-4D97-AF65-F5344CB8AC3E}">
        <p14:creationId xmlns:p14="http://schemas.microsoft.com/office/powerpoint/2010/main" val="2134985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C58D0-9A01-4923-8AD9-E6D71D9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工作方式与工作量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E6780-9479-4EE4-A0BB-9AC1BFC5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工作线1-2：四大系统接口分析与模块说明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11AFE-775E-483A-803B-2980817A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A44F0-70F0-4551-A7CC-5468A50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C2979-B93D-458B-B1D7-7EC4488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1631-4FBA-4409-B770-83E2617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6B79E-4415-499C-B432-2DB2E01E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怎么做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A3112-E084-4FDB-9D36-C8092AE6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064C8-4522-405D-830F-0DBA315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先读四大系统接口源码，确认工具能做什么、不能做什么。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B5350-71A8-4C80-AFEF-FAAD9AAD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779D9-521E-4EE9-AD51-E55E405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逐项梳理入参、出参、字段约束，以及字段填错后的影响。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F9E1-379E-42EA-9E7F-BD44A37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7F0A2-1EE3-4CA5-AD07-72510FE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把接口能力转写成模块说明，给智能体作为工具调用依据。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61244-E2D9-4D22-BB8E-F7B3F09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F75F9-6AB0-40C7-BAED-C8E28D5F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把常见错误归因到字段、接口、外部系统稳定性或流程缺口。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360D5-B7B8-4C3F-8C2F-37EE435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54864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3B33D-C3EF-474A-843C-C248E4BD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已形成的工作量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96D9E-A59A-43CF-ACEC-B649A3A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F04A8-C3BE-46C5-ADF5-8E4FA3C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2E626-B8AF-4AA8-BD81-6D1B4F5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5C99"/>
                </a:solidFill>
              </a:defRPr>
            </a:pPr>
            <a:r>
              <a:rPr sz="2325" b="1">
                <a:solidFill>
                  <a:srgbClr val="255C99"/>
                </a:solidFill>
              </a:rPr>
              <a:t>4个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20207-345E-44C8-AA67-318BD02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覆盖系统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DFD8A-4003-4206-8054-EEB5C32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IPM / QPP / ECMS / TC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07C9A-2DB1-477D-AB7B-B8807531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3FDF5-69B2-4BF0-B69D-6554914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4040D-2789-4386-89C4-93ED711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A6"/>
                </a:solidFill>
              </a:defRPr>
            </a:pPr>
            <a:r>
              <a:rPr sz="2325" b="1">
                <a:solidFill>
                  <a:srgbClr val="00A6A6"/>
                </a:solidFill>
              </a:rPr>
              <a:t>7份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2C20B-7676-4640-996D-203D8948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接口/工具说明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AFABA-BE04-49E7-A0BC-7E3C2A5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含TC查询、上传、导出等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8E448-B097-4B88-8F42-9260B536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50D61-4004-44BB-99DC-7A52FEA4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71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6DC39-9CE9-4FAA-9034-4885086A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431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855A"/>
                </a:solidFill>
              </a:defRPr>
            </a:pPr>
            <a:r>
              <a:rPr sz="2325" b="1">
                <a:solidFill>
                  <a:srgbClr val="2F855A"/>
                </a:solidFill>
              </a:rPr>
              <a:t>3类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541A8-C3E8-4A2D-8E6D-A8A3299F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622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技术分析报告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4E88C-2CBE-403E-8849-4E75EBF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分析、方案、成效报告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A783F-621A-4B58-9F71-ED9EEDD0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代表性产出：四大系统接口分析报告、智能体调用工具持续改进方案、四大系统接口改进阶段性成效报告；接口说明文档累计数千段，覆盖工具用途、参数、返回结果和调用注意事项。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C2FF7-07C9-4587-962D-31B4EDF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6CD46-7AEA-4C7D-AF2D-0EC783AA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5C99"/>
                </a:solidFill>
              </a:defRPr>
            </a:pPr>
            <a:r>
              <a:rPr sz="1575" b="1">
                <a:solidFill>
                  <a:srgbClr val="255C99"/>
                </a:solidFill>
              </a:rPr>
              <a:t>改进价值：把“模型猜工具”转为“模型按接口说明调用工具”。</a:t>
            </a:r>
          </a:p>
        </p:txBody>
      </p:sp>
    </p:spTree>
    <p:extLst>
      <p:ext uri="{BB962C8B-B14F-4D97-AF65-F5344CB8AC3E}">
        <p14:creationId xmlns:p14="http://schemas.microsoft.com/office/powerpoint/2010/main" val="80394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69DE6-3F08-4159-ADA1-37A40EA1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工作方式与工作量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DF7D3-5470-4818-866F-C29F700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工作线3：业务专家操作示例集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1805E-41BF-4E8A-8F74-31A0D2D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4A4F0-865B-4387-AA7C-E8F01A9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C6D18-32E2-4AC6-A5E2-D5B319D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EE317-8FAA-4356-B514-3A99F784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AE7A3-D1BB-4B83-B568-3908896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核心方法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59389-5715-44B9-A08D-63615FD5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7"/>
                </a:solidFill>
              </a:defRPr>
            </a:pPr>
            <a:r>
              <a:rPr sz="1425" b="0">
                <a:solidFill>
                  <a:srgbClr val="243447"/>
                </a:solidFill>
              </a:rPr>
              <a:t>请业务专家按真实工作过程写操作示例，再把示例拆解成“任务背景、输入材料、操作步骤、期望结果、异常处理”。这些材料不是展示材料，而是智能体后续训练、规则补全和测试复盘的直接依据。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756CA-2733-4674-842B-01B3AE66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90AF-23CC-47C4-A4A0-86904E39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5EAA7-31B1-4345-968E-49489206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覆盖范围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63146-5E07-4EFF-80E9-3A2ED948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覆盖任务抓取到文档生成的完整链路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68236-E292-4A44-A64B-6BB3484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1D0B7-5DDB-4A1F-9996-57797DD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12402-BB84-4391-97EA-B2655D4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数量要求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1606D-DDF2-4A57-BEBA-E496FFC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每个任务不少于10个示例，目标不少于70条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7D5EC-62AA-4279-BB23-F8CF8050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D1925-817F-44EF-9747-0477B00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4A8A2-D282-49AC-8694-B5E1F22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协同方式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5FD6B-C954-4A58-A5E6-8F4E741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世豪牵头，其他人协助完成，用于效果分析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7151D-688D-4896-A9A1-07B1B04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2E776-51A6-4864-96B3-B51B8D6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DB331-F996-4D96-A638-1603B07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沉淀方式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885CA-11A6-46F2-8D0E-D3E2BFBC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924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沉淀可复用输入、判断标准和错误处置材料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6FE22-1014-4ADB-BA94-02B95CC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2748A"/>
                </a:solidFill>
              </a:defRPr>
            </a:pPr>
            <a:r>
              <a:rPr sz="1425" b="1">
                <a:solidFill>
                  <a:srgbClr val="62748A"/>
                </a:solidFill>
              </a:rPr>
              <a:t>工作量口径：这里强调“示例集建设方式和目标工作量”，不把它提前包装为最终效果。</a:t>
            </a:r>
          </a:p>
        </p:txBody>
      </p:sp>
    </p:spTree>
    <p:extLst>
      <p:ext uri="{BB962C8B-B14F-4D97-AF65-F5344CB8AC3E}">
        <p14:creationId xmlns:p14="http://schemas.microsoft.com/office/powerpoint/2010/main" val="1498905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86BA3-664F-47A8-986F-6F237A9C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工作方式与工作量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B62E5-0227-45E2-BD6D-545DDEA8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工作线4：测试案例集与评测工作台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9C0B2-E9BA-4E82-9AE9-2EA9E69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3E82D-11EC-4B5A-A423-93DBC9D4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A6F40-3457-4BFA-A191-D1BDB43B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5AD9E-8CE7-448A-B7E5-335246B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48A"/>
                </a:solidFill>
              </a:defRPr>
            </a:pPr>
            <a:r>
              <a:rPr sz="1425" b="0">
                <a:solidFill>
                  <a:srgbClr val="62748A"/>
                </a:solidFill>
              </a:rPr>
              <a:t>测试案例集把“能不能用”变成可度量问题：每个案例包括输入、期望输出、允许偏差，并沉淀到评测工作台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15F6F-A42F-468B-8325-B8CEB8A7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31769-6CA0-4994-B8F2-CFCC17A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D4BFF-9556-4511-B7DC-6448261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5C99"/>
                </a:solidFill>
              </a:defRPr>
            </a:pPr>
            <a:r>
              <a:rPr sz="2325" b="1">
                <a:solidFill>
                  <a:srgbClr val="255C99"/>
                </a:solidFill>
              </a:rPr>
              <a:t>7个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C402D-90F3-451C-B477-87EB0FD3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124A5-7429-4F0C-AB97-EF6E692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与623大纲一致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3401-8ED3-4496-AD00-B4670614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E197D-78BC-4572-AA35-60CEA15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D5BD1-0B2D-4A27-B4EB-71F28414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A6"/>
                </a:solidFill>
              </a:defRPr>
            </a:pPr>
            <a:r>
              <a:rPr sz="2325" b="1">
                <a:solidFill>
                  <a:srgbClr val="00A6A6"/>
                </a:solidFill>
              </a:rPr>
              <a:t>35个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D4651-B585-47E9-8D0F-6EE6FF0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测试场景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993EB-FCB0-491B-BA7F-E313A81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每任务5个场景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A4E62-002F-44AC-B1F6-DE561AD9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02124-5582-4F34-B703-940CEFE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AA539-DB26-4C50-8D96-46A627F1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855A"/>
                </a:solidFill>
              </a:defRPr>
            </a:pPr>
            <a:r>
              <a:rPr sz="2325" b="1">
                <a:solidFill>
                  <a:srgbClr val="2F855A"/>
                </a:solidFill>
              </a:rPr>
              <a:t>134项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5E181-B950-4841-996D-E019ECB8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校验点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68B8A-5539-4022-AA12-580DDFD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按维度打分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E7B00-8BA2-45AA-A399-AFDEB18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EEF3C-D0DD-440B-91F7-0B9CEBA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9FD57-3A2C-4211-9EEF-605040F2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47A1C"/>
                </a:solidFill>
              </a:defRPr>
            </a:pPr>
            <a:r>
              <a:rPr sz="2325" b="1">
                <a:solidFill>
                  <a:srgbClr val="C47A1C"/>
                </a:solidFill>
              </a:rPr>
              <a:t>5版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4213C-DD85-470E-A1A9-52E9E9B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14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版本记录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71203-A3C5-44B4-A373-5C89B45A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多轮改进可追踪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E456D-D36A-4888-BBFE-EE5C068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1809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CCBAE-19A3-4037-8724-8050E79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9973A-1EBC-494C-AF17-B226E835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413A"/>
                </a:solidFill>
              </a:defRPr>
            </a:pPr>
            <a:r>
              <a:rPr sz="2325" b="1">
                <a:solidFill>
                  <a:srgbClr val="C2413A"/>
                </a:solidFill>
              </a:rPr>
              <a:t>58条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CAE34-BD0E-4C50-BFF0-93CCE3CB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14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测试记录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3D748-296E-442D-BCA4-3626B9E5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0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A"/>
                </a:solidFill>
              </a:defRPr>
            </a:pPr>
            <a:r>
              <a:rPr sz="1125" b="0">
                <a:solidFill>
                  <a:srgbClr val="62748A"/>
                </a:solidFill>
              </a:rPr>
              <a:t>留存复盘证据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F0126-BB11-4E55-A0D0-FDA4CB1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04619-0AE5-4675-B5AC-AE838258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评价维度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51DA7-3488-4D13-BA88-02AB333C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功能正确性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68153D-0F1F-4111-844B-E4D2847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7884D-9A84-49B9-BD9D-AB24914E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196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9E4FA3-D789-4F38-A237-866814A6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815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5C99"/>
                </a:solidFill>
              </a:defRPr>
            </a:pPr>
            <a:r>
              <a:rPr sz="1200" b="1">
                <a:solidFill>
                  <a:srgbClr val="255C99"/>
                </a:solidFill>
              </a:rPr>
              <a:t>40%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B351C-13A0-4E2D-BAAC-77F6BB5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交互友好性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EABC01-CD0B-4B5E-9DCE-6BC75203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291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471680-EA40-4ED0-AF0D-E0FF6208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291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1010B7-A712-4719-ACD1-A7FB586C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</a:defRPr>
            </a:pPr>
            <a:r>
              <a:rPr sz="1200" b="1">
                <a:solidFill>
                  <a:srgbClr val="00A6A6"/>
                </a:solidFill>
              </a:rPr>
              <a:t>20%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633C9C-098C-4934-A8E2-DCB6D7C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异常处理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3405AD-1C96-4986-94B7-682A9E20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205ACA-88E7-4A4D-8A25-2B79DE8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24B1D0-39FA-4448-B7D3-883A37E6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55A"/>
                </a:solidFill>
              </a:defRPr>
            </a:pPr>
            <a:r>
              <a:rPr sz="1200" b="1">
                <a:solidFill>
                  <a:srgbClr val="2F855A"/>
                </a:solidFill>
              </a:rPr>
              <a:t>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6046C1-F034-49D3-9CDA-8D01B76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数据一致性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824F5B-9B5A-4DC2-850F-780305B6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482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E14802-0034-4BF2-B233-DCF23FA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48250"/>
            <a:ext cx="523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A12DA2-E1CE-47BE-BBA7-86C91B74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7A1C"/>
                </a:solidFill>
              </a:defRPr>
            </a:pPr>
            <a:r>
              <a:rPr sz="1200" b="1">
                <a:solidFill>
                  <a:srgbClr val="C47A1C"/>
                </a:solidFill>
              </a:rPr>
              <a:t>10%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725637-73B5-4309-866D-6992391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447"/>
                </a:solidFill>
              </a:defRPr>
            </a:pPr>
            <a:r>
              <a:rPr sz="1200" b="0">
                <a:solidFill>
                  <a:srgbClr val="243447"/>
                </a:solidFill>
              </a:rPr>
              <a:t>响应时效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E50547-DE28-484E-B7E1-97D52535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753135-987E-41D5-BE7F-07FAC390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57800"/>
            <a:ext cx="523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DA732A-B467-499A-B8D8-98372201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3A"/>
                </a:solidFill>
              </a:defRPr>
            </a:pPr>
            <a:r>
              <a:rPr sz="1200" b="1">
                <a:solidFill>
                  <a:srgbClr val="C2413A"/>
                </a:solidFill>
              </a:rPr>
              <a:t>10%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6C39C2-3CD3-472C-AA23-BC26B62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54864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1ABE26-8085-4B69-9C40-AD668975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测试闭环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CD4F9E-D09A-4662-BCF5-FA70259C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86FCBE-A0AD-4B20-BE4B-78E308B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用统一规则记录每轮结果，避免只凭主观感受判断。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AF22A0-70D6-4CAC-A6C3-12BC434A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6F654A-A244-4784-B297-BC945077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244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失败项回写到接口说明、提示词和工具规则。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B2F933-EBF4-4115-A262-A58E0B5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CED4ED-0DBA-4976-B616-14C27416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测试报告作为后续验收材料和持续改进依据。</a:t>
            </a:r>
          </a:p>
        </p:txBody>
      </p:sp>
    </p:spTree>
    <p:extLst>
      <p:ext uri="{BB962C8B-B14F-4D97-AF65-F5344CB8AC3E}">
        <p14:creationId xmlns:p14="http://schemas.microsoft.com/office/powerpoint/2010/main" val="57359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8ED04-FBF2-49E3-9E45-5B270897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工作方式与工作量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E8004-2ECF-47BC-8808-AD758F4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工作线5：用户使用说明书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48471-FE6A-4A48-9874-5C601D2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4E7A-160B-4F68-BD72-AF80B1F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6940E-66F6-4DAA-A5B8-A02C55F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1699B-904C-45A2-913B-262F761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291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BF131-9BB3-4991-99FC-0228B3D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编写原则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CE2C4-F432-4FC0-B517-72B2A88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790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447"/>
                </a:solidFill>
              </a:defRPr>
            </a:pPr>
            <a:r>
              <a:rPr sz="1500" b="0">
                <a:solidFill>
                  <a:srgbClr val="243447"/>
                </a:solidFill>
              </a:rPr>
              <a:t>以测试案例集为基础，从业务用户视角说明“什么时候用、怎么输入、输出怎么看、出错怎么处理”。目标是让工程师不依赖开发人员也能按规范使用和反馈问题。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98ADE-96A5-4427-AE09-4EC4325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379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0B8D6-41A4-4121-B4DB-A2014FD9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BCC6C-99E8-4DC1-87F9-E04BE659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功能简要说明与总体工作流程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67A80-C182-443D-BE23-FB47112B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841B-10E7-40DD-BE8E-9330FCA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7个子任务的提示词格式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4579A-3FB8-4E7E-9150-87933AAA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5A1D1-36A0-4BDC-9FEC-E7480B9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输入数据要求和示例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BD8CF-E95D-4BE4-8CA1-62A50D9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5731C-3C1F-4A21-AFAD-6DF85B2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运行状态、输出状态和异常处置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70819-93FD-4936-A084-017CFAAF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66850"/>
            <a:ext cx="57721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5B642-055D-45A3-A767-9E966E59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交付价值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6AD5D-D492-4E85-9FEA-511C238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E8278-27CA-4323-838F-EC23694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降低使用门槛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43064-74A6-4FE2-A81F-2D545F60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非开发人员可以按说明完成主要任务调用。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57943-3859-42C2-8C28-7118EC2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289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B02E0-FDF6-4DD1-89ED-7278936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统一输入格式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9EDD9-9DC6-4036-8EB1-AE27E4E8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减少因为提示词、数据字段不规范导致的失败。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9C868-294D-4D0D-BBBA-F2170D44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3B605-9787-4F1F-AF28-DA7E8AD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统一反馈口径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BE896-80C1-4316-801D-F7A5DB1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用户知道哪些信息要反馈，便于开发人员定位问题。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2F500-D495-4101-A242-A6E3B3AF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00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6777B-FA87-4C22-B078-65478EE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支撑验收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D620C-EB1A-4A4F-8D80-77D5E92D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说明书与测试案例、测试记录相互对应。</a:t>
            </a:r>
          </a:p>
        </p:txBody>
      </p:sp>
    </p:spTree>
    <p:extLst>
      <p:ext uri="{BB962C8B-B14F-4D97-AF65-F5344CB8AC3E}">
        <p14:creationId xmlns:p14="http://schemas.microsoft.com/office/powerpoint/2010/main" val="1006827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2424B-0A2B-4F7A-9F4D-A8A986E2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工作方式与工作量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DC1A6-2849-4DE2-B961-CD8AD54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工作线6-7：模块化拆解与持续改进机制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6B2EC-781F-4A0B-AC1E-54FC54B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4022-C11E-4784-AF31-45AB3375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421B-F4A1-47EA-9FFF-219CC98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9025A-B414-46C8-BA1A-2E46919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42862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1F66A-B734-4729-96EE-2B72E82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模块化拆解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7146D-9BEB-4F3D-8233-EF61629C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DA01C-F2E6-4D9E-B1E7-D6379CEA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将总智能体按7个任务拆成独立智能体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CEDF8-8964-40D4-A97D-241F7F62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9B364-39F1-4BD0-B415-0975C4A5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每个智能体对应提示词、工具范围、测试场景和复测路径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2F27F-FDDD-49A1-9EF5-3B86690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C9179-760D-45AC-B59C-ED365EE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通用能力沉淀为技能与工具契约，便于其他项目复用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1BDBB-A040-41C5-A375-B0FACB74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49FDB-F3E6-439C-8504-ECEA83D2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代码侧工作量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09109-2510-4561-9AB2-207696CE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5C99"/>
                </a:solidFill>
              </a:defRPr>
            </a:pPr>
            <a:r>
              <a:rPr sz="1425" b="1">
                <a:solidFill>
                  <a:srgbClr val="255C99"/>
                </a:solidFill>
              </a:rPr>
              <a:t>8个智能体定义  |  15个技能目录  |  55个MCP工具契约  |  25个测试文件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8C2A7-D6EB-45C7-B98F-14C13E7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6850"/>
            <a:ext cx="62484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b8fde20e24e5b"/>
          <a:stretch xmlns:a="http://schemas.openxmlformats.org/drawingml/2006/main"/>
        </p:blipFill>
        <p:spPr>
          <a:xfrm xmlns:a="http://schemas.openxmlformats.org/drawingml/2006/main">
            <a:off x="6355080" y="1714500"/>
            <a:ext cx="4053840" cy="2533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086F4-16F6-4B60-9F59-6EDEB485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563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9C27D-E66F-4FEC-AAB2-A95F90C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48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持续改进机制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69EA7-FD83-414A-8C7F-26379083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101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形成《持续改进操作说明书》：错误记录、原因归类、规则修订、工具/接口反馈、复测验证、版本留存，支撑玉柴和星云工程师后续自主改进。</a:t>
            </a:r>
          </a:p>
        </p:txBody>
      </p:sp>
    </p:spTree>
    <p:extLst>
      <p:ext uri="{BB962C8B-B14F-4D97-AF65-F5344CB8AC3E}">
        <p14:creationId xmlns:p14="http://schemas.microsoft.com/office/powerpoint/2010/main" val="1107891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5B5E4-A3A2-43FA-9099-C411A322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阶段结果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B56C4-582D-464A-8C4F-39B50AA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阶段结果：最后集中看效果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56530-8AA4-4732-9857-B1181DC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645BA-0709-4378-BF1C-EE274A8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DB949-F48B-4B03-8685-DFFADF5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51E34-DE61-4BC8-9605-7206EFA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48A"/>
                </a:solidFill>
              </a:defRPr>
            </a:pPr>
            <a:r>
              <a:rPr sz="1425" b="0">
                <a:solidFill>
                  <a:srgbClr val="62748A"/>
                </a:solidFill>
              </a:rPr>
              <a:t>以下只放已在测试记录和阶段性成效报告中可追溯的阶段表现，仍保留未闭环问题。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E97FA-35BA-471D-B330-4DC8798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9C4CD-2A37-49DD-B816-039A048C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E343C-92AE-4206-AE8B-24D8515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多系统任务抓取与展示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4FB10-EEED-4BEB-B59B-2FA16E8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4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5C99"/>
                </a:solidFill>
              </a:defRPr>
            </a:pPr>
            <a:r>
              <a:rPr sz="1800" b="1">
                <a:solidFill>
                  <a:srgbClr val="255C99"/>
                </a:solidFill>
              </a:rPr>
              <a:t>约37.6 → 约99.2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2E30D-F98C-4B7C-AE18-7BEC983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任务内容展示能力明显提升，接口字段和返回结构更稳定。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18FFB-D4F2-4BAC-B49B-5441F623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B54B3-036C-4CC8-918A-66D9A0B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C883A-2486-4421-A3E7-3F64A25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NX模板调用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9D522-B392-42C8-9026-97908C37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</a:defRPr>
            </a:pPr>
            <a:r>
              <a:rPr sz="1800" b="1">
                <a:solidFill>
                  <a:srgbClr val="00A6A6"/>
                </a:solidFill>
              </a:rPr>
              <a:t>相关测试100分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FC9E2-5114-41B0-8F11-46B0680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717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4条记录响应均不超过200秒，平均约142.9秒。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35DF4-77B3-4BB2-B00D-9406C67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F0D37-F586-4831-9AD2-ED95577A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F8332-4DF2-4DAE-A6AF-A3E93A9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参数化建模及TC回传准备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6CBDF-AEE8-4A5C-A9EE-98A1C41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55A"/>
                </a:solidFill>
              </a:defRPr>
            </a:pPr>
            <a:r>
              <a:rPr sz="1800" b="1">
                <a:solidFill>
                  <a:srgbClr val="2F855A"/>
                </a:solidFill>
              </a:rPr>
              <a:t>相关测试100分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F2485-D8E2-4434-BCF0-FF6633E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90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2条记录平均约62.8秒，建模和回传准备链路可跑通。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CD2B7-27CD-4853-B561-674FB201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AECB4-52FB-4324-99CE-3402F27D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DA9FB-2AC1-4FB4-8B1D-14B9F90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设计说明书自动编写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FB3F6-5CA9-45B7-96E3-A8F1CF6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A1C"/>
                </a:solidFill>
              </a:defRPr>
            </a:pPr>
            <a:r>
              <a:rPr sz="1800" b="1">
                <a:solidFill>
                  <a:srgbClr val="C47A1C"/>
                </a:solidFill>
              </a:rPr>
              <a:t>提升到约95.2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64955-E7F2-404D-8029-92DD7B7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0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23个槽位全部填充，截图证据覆盖多视角；响应仍需优化。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EA008-A4D9-4B20-8F11-8336BBC2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729D5-1D95-43EB-9316-E8B8B823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2BAFDD-C4D3-4E96-A542-B3DCCCE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DFMEA自动编写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F7C402-CC01-41D8-8F52-9D22AE46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A"/>
                </a:solidFill>
              </a:defRPr>
            </a:pPr>
            <a:r>
              <a:rPr sz="1800" b="1">
                <a:solidFill>
                  <a:srgbClr val="C2413A"/>
                </a:solidFill>
              </a:rPr>
              <a:t>可生成7项风险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3C06BD-275D-4438-9B31-8B3089E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292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447"/>
                </a:solidFill>
              </a:defRPr>
            </a:pPr>
            <a:r>
              <a:rPr sz="1275" b="0">
                <a:solidFill>
                  <a:srgbClr val="243447"/>
                </a:solidFill>
              </a:rPr>
              <a:t>文件、路径、大小、模板、SHA256等证据已形成；成熟度仍不足。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DE636-6D16-438E-92F9-842AB19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748A"/>
                </a:solidFill>
              </a:defRPr>
            </a:pPr>
            <a:r>
              <a:rPr sz="1350" b="1">
                <a:solidFill>
                  <a:srgbClr val="62748A"/>
                </a:solidFill>
              </a:rPr>
              <a:t>仍需继续跟踪：QPP/ECR外部接口稳定性、长流程响应时间、TC真实回传/复制/覆盖场景验证。</a:t>
            </a:r>
          </a:p>
        </p:txBody>
      </p:sp>
    </p:spTree>
    <p:extLst>
      <p:ext uri="{BB962C8B-B14F-4D97-AF65-F5344CB8AC3E}">
        <p14:creationId xmlns:p14="http://schemas.microsoft.com/office/powerpoint/2010/main" val="1467788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79398-AF49-4CC4-94AF-3F438C15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A6"/>
                </a:solidFill>
              </a:defRPr>
            </a:pPr>
            <a:r>
              <a:rPr sz="1125" b="1">
                <a:solidFill>
                  <a:srgbClr val="00A6A6"/>
                </a:solidFill>
              </a:rPr>
              <a:t>演示与下一步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5EBC2-4754-40D3-8151-C7C0361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演示内容与后续推进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BA41-7D97-442B-BF56-CD51D24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B6677-3127-47C6-9691-69787BC7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零件设计智能体优化工作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80E22-D6DA-49D1-A0B8-F3811FA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A"/>
                </a:solidFill>
              </a:defRPr>
            </a:pPr>
            <a:r>
              <a:rPr sz="975" b="0">
                <a:solidFill>
                  <a:srgbClr val="62748A"/>
                </a:solidFill>
              </a:rPr>
              <a:t>按623大纲重做版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FD57B-1FBC-40CD-A9A9-F8D2E46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810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794BF-DFAC-413F-9E11-F9AB5FD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演示视频建议按4段播放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BD82-082C-41AB-97CA-F288804A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539FB-D98F-4387-8B9F-EB2FC9EC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B5FBE-C71B-4071-BC84-ED0B2EB6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任务接入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B93BB-37AF-4C83-8CE3-897311E4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展示从多系统抓取任务、识别任务字段、生成任务视图。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E1144-432C-4CDD-AE36-CF120BC0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5E7BE-0E4F-462D-92A3-5EB7F3F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40A83-86DB-46C2-90CC-F42DB78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模板确认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7480F-F0BF-4031-988F-A3F486B0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76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展示NX模板调用、参数入口和必要的人工确认点。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7BC03-69FE-410C-B0CD-73C918E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A8A7F-A1E2-4037-BD6E-9D35DF0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2909A-459F-4F78-96C5-9D7C5B7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建模与回传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B2EF9-D2C4-487C-8136-508EBEE5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展示参数化建模、结果校验、TC回传准备或证据留存。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AA315-C121-4DDC-A6B4-FF6702A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2353B-E613-47C3-8172-66F44DB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33834-DA08-44A9-90F6-0CC4F64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文档生成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A9FCC-32C7-4621-AB85-AEDF2D2B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48A"/>
                </a:solidFill>
              </a:defRPr>
            </a:pPr>
            <a:r>
              <a:rPr sz="1275" b="0">
                <a:solidFill>
                  <a:srgbClr val="62748A"/>
                </a:solidFill>
              </a:rPr>
              <a:t>展示设计说明书与DFMEA输出，以及文件证据和复测记录。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8C4A0-3841-4C2E-AE34-96A0EC0C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66850"/>
            <a:ext cx="46291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48F17-2337-4CC1-878C-5020B04D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33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后续推进重点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15F41-5B41-420C-BBE4-5C4F3FC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61AC4-2038-4999-B686-88E214A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241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把失败案例继续回写到接口说明、示例集和测试案例。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9099A-B4D2-4DA7-BA75-F35FF88E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C851C-9BC7-4BD5-8D19-FBC3BE05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对外部系统接口问题单独建账，区分智能体问题和系统稳定性问题。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FE81A-07A4-4027-9CE4-1056B67B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A3BE8-1DE9-4B5D-9FA8-7A06815E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围绕报告、DFMEA等长流程继续压缩响应时间和提高稳定性。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EF237-3F2F-4026-AAAD-0C17CDA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421A1-6B94-406A-8714-F224B436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447"/>
                </a:solidFill>
              </a:defRPr>
            </a:pPr>
            <a:r>
              <a:rPr sz="1350" b="0">
                <a:solidFill>
                  <a:srgbClr val="243447"/>
                </a:solidFill>
              </a:rPr>
              <a:t>补齐TC真实上传、复制、覆盖等验收场景的端到端验证。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0D7139-F60E-4823-ABC7-ADB8295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17A78-9E1E-4677-BC16-E830BC6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81600"/>
            <a:ext cx="365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5C99"/>
                </a:solidFill>
              </a:defRPr>
            </a:pPr>
            <a:r>
              <a:rPr sz="1500" b="1">
                <a:solidFill>
                  <a:srgbClr val="255C99"/>
                </a:solidFill>
              </a:rPr>
              <a:t>汇报收束：工作已经从“能跑”进入“可评测、可复盘、可持续改进”。</a:t>
            </a:r>
          </a:p>
        </p:txBody>
      </p:sp>
    </p:spTree>
    <p:extLst>
      <p:ext uri="{BB962C8B-B14F-4D97-AF65-F5344CB8AC3E}">
        <p14:creationId xmlns:p14="http://schemas.microsoft.com/office/powerpoint/2010/main" val="104077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2026-06-25T18:50:06.3040000Z</dcterms:created>
  <dcterms:modified xsi:type="dcterms:W3CDTF">2026-06-25T18:50:06.3040000Z</dcterms:modified>
</coreProperties>
</file>