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b06e0f66a44fc7" /><Relationship Type="http://schemas.openxmlformats.org/officeDocument/2006/relationships/extended-properties" Target="/docProps/app.xml" Id="Rd07176a3eded46c5" /><Relationship Type="http://schemas.openxmlformats.org/officeDocument/2006/relationships/officeDocument" Target="/ppt/presentation.xml" Id="R25a81340b158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17c8cf8c684c6c"/>
  </p:sldMasterIdLst>
  <p:notesMasterIdLst>
    <p:notesMasterId xmlns:r="http://schemas.openxmlformats.org/officeDocument/2006/relationships" r:id="R53041f7f590340b7"/>
  </p:notesMasterIdLst>
  <p:sldIdLst>
    <p:sldId xmlns:r="http://schemas.openxmlformats.org/officeDocument/2006/relationships" id="256" r:id="Rade51d958bb54c30"/>
    <p:sldId xmlns:r="http://schemas.openxmlformats.org/officeDocument/2006/relationships" id="257" r:id="R9d3882ad48c14dae"/>
    <p:sldId xmlns:r="http://schemas.openxmlformats.org/officeDocument/2006/relationships" id="258" r:id="Re33ff7dac18e4180"/>
    <p:sldId xmlns:r="http://schemas.openxmlformats.org/officeDocument/2006/relationships" id="259" r:id="R1fbfa9075798419a"/>
    <p:sldId xmlns:r="http://schemas.openxmlformats.org/officeDocument/2006/relationships" id="260" r:id="Rc75a44e42f9f4d14"/>
    <p:sldId xmlns:r="http://schemas.openxmlformats.org/officeDocument/2006/relationships" id="261" r:id="R916c8577c5b74029"/>
    <p:sldId xmlns:r="http://schemas.openxmlformats.org/officeDocument/2006/relationships" id="262" r:id="R773b35ed748b45fa"/>
    <p:sldId xmlns:r="http://schemas.openxmlformats.org/officeDocument/2006/relationships" id="263" r:id="R537be4ca943d4815"/>
    <p:sldId xmlns:r="http://schemas.openxmlformats.org/officeDocument/2006/relationships" id="264" r:id="R41b8fae6041840fe"/>
    <p:sldId xmlns:r="http://schemas.openxmlformats.org/officeDocument/2006/relationships" id="265" r:id="Rd25e168eed7643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1eaa7833274b97" /><Relationship Type="http://schemas.openxmlformats.org/officeDocument/2006/relationships/slideMaster" Target="/ppt/slideMasters/slideMaster1.xml" Id="Rd517c8cf8c684c6c" /><Relationship Type="http://schemas.openxmlformats.org/officeDocument/2006/relationships/notesMaster" Target="/ppt/notesMasters/notesMaster1.xml" Id="R53041f7f590340b7" /><Relationship Type="http://schemas.openxmlformats.org/officeDocument/2006/relationships/presProps" Target="/ppt/presProps.xml" Id="R938dc808bbd14a83" /><Relationship Type="http://schemas.openxmlformats.org/officeDocument/2006/relationships/tableStyles" Target="/ppt/tableStyles.xml" Id="R44f3c431a6b0468c" /><Relationship Type="http://schemas.openxmlformats.org/officeDocument/2006/relationships/slide" Target="/ppt/slides/slide1.xml" Id="Rade51d958bb54c30" /><Relationship Type="http://schemas.openxmlformats.org/officeDocument/2006/relationships/slide" Target="/ppt/slides/slide2.xml" Id="R9d3882ad48c14dae" /><Relationship Type="http://schemas.openxmlformats.org/officeDocument/2006/relationships/slide" Target="/ppt/slides/slide3.xml" Id="Re33ff7dac18e4180" /><Relationship Type="http://schemas.openxmlformats.org/officeDocument/2006/relationships/slide" Target="/ppt/slides/slide4.xml" Id="R1fbfa9075798419a" /><Relationship Type="http://schemas.openxmlformats.org/officeDocument/2006/relationships/slide" Target="/ppt/slides/slide5.xml" Id="Rc75a44e42f9f4d14" /><Relationship Type="http://schemas.openxmlformats.org/officeDocument/2006/relationships/slide" Target="/ppt/slides/slide6.xml" Id="R916c8577c5b74029" /><Relationship Type="http://schemas.openxmlformats.org/officeDocument/2006/relationships/slide" Target="/ppt/slides/slide7.xml" Id="R773b35ed748b45fa" /><Relationship Type="http://schemas.openxmlformats.org/officeDocument/2006/relationships/slide" Target="/ppt/slides/slide8.xml" Id="R537be4ca943d4815" /><Relationship Type="http://schemas.openxmlformats.org/officeDocument/2006/relationships/slide" Target="/ppt/slides/slide9.xml" Id="R41b8fae6041840fe" /><Relationship Type="http://schemas.openxmlformats.org/officeDocument/2006/relationships/slide" Target="/ppt/slides/slide10.xml" Id="Rd25e168eed7643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53e04e8aa541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6015386bc04db2" /><Relationship Type="http://schemas.openxmlformats.org/officeDocument/2006/relationships/notesMaster" Target="/ppt/notesMasters/notesMaster1.xml" Id="R40bc0dc20fcd49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7be085dd2a4e7e" /><Relationship Type="http://schemas.openxmlformats.org/officeDocument/2006/relationships/notesMaster" Target="/ppt/notesMasters/notesMaster1.xml" Id="Rbb89f381dc7b49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6c02f25f4463b" /><Relationship Type="http://schemas.openxmlformats.org/officeDocument/2006/relationships/notesMaster" Target="/ppt/notesMasters/notesMaster1.xml" Id="Rd5068c29abf746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a9f5265014efd" /><Relationship Type="http://schemas.openxmlformats.org/officeDocument/2006/relationships/notesMaster" Target="/ppt/notesMasters/notesMaster1.xml" Id="Rae2ec471cdae43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08cb62e39548be" /><Relationship Type="http://schemas.openxmlformats.org/officeDocument/2006/relationships/notesMaster" Target="/ppt/notesMasters/notesMaster1.xml" Id="R144933bc4e1d45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932d2d64634521" /><Relationship Type="http://schemas.openxmlformats.org/officeDocument/2006/relationships/notesMaster" Target="/ppt/notesMasters/notesMaster1.xml" Id="R39c6a86691ff44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6a68af47134645" /><Relationship Type="http://schemas.openxmlformats.org/officeDocument/2006/relationships/notesMaster" Target="/ppt/notesMasters/notesMaster1.xml" Id="Rc93c80fb64714a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aca44f4ee34117" /><Relationship Type="http://schemas.openxmlformats.org/officeDocument/2006/relationships/notesMaster" Target="/ppt/notesMasters/notesMaster1.xml" Id="R68c1e07329894c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c0f3d042ad4245" /><Relationship Type="http://schemas.openxmlformats.org/officeDocument/2006/relationships/notesMaster" Target="/ppt/notesMasters/notesMaster1.xml" Id="R4660ec4c410e47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57f31c60434b29" /><Relationship Type="http://schemas.openxmlformats.org/officeDocument/2006/relationships/notesMaster" Target="/ppt/notesMasters/notesMaster1.xml" Id="R6b02ae56cbdc43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780f812da4a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4f11aa9b5f42cb" /><Relationship Type="http://schemas.openxmlformats.org/officeDocument/2006/relationships/slideLayout" Target="/ppt/slideLayouts/slideLayout1.xml" Id="R93392de618f844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92de618f844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a8e3387be4ea8" /><Relationship Type="http://schemas.openxmlformats.org/officeDocument/2006/relationships/image" Target="/ppt/media/image.png" Id="R2abc421eae6f4b93" /><Relationship Type="http://schemas.openxmlformats.org/officeDocument/2006/relationships/notesSlide" Target="/ppt/notesSlides/notesSlide1.xml" Id="R1f23da10aac042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77fffdafe4500" /><Relationship Type="http://schemas.openxmlformats.org/officeDocument/2006/relationships/notesSlide" Target="/ppt/notesSlides/notesSlide2.xml" Id="Rbba24636b27446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f346d457c4ae6" /><Relationship Type="http://schemas.openxmlformats.org/officeDocument/2006/relationships/notesSlide" Target="/ppt/notesSlides/notesSlide3.xml" Id="Rb493e0df0fee4e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845deea7c4f80" /><Relationship Type="http://schemas.openxmlformats.org/officeDocument/2006/relationships/notesSlide" Target="/ppt/notesSlides/notesSlide4.xml" Id="R645c9c81c0204a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2050451064a2c" /><Relationship Type="http://schemas.openxmlformats.org/officeDocument/2006/relationships/notesSlide" Target="/ppt/notesSlides/notesSlide5.xml" Id="R6f561fb9ccc842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acaddbe774346" /><Relationship Type="http://schemas.openxmlformats.org/officeDocument/2006/relationships/notesSlide" Target="/ppt/notesSlides/notesSlide6.xml" Id="Ra417bfbcf88c4a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b59c07f6c4d16" /><Relationship Type="http://schemas.openxmlformats.org/officeDocument/2006/relationships/notesSlide" Target="/ppt/notesSlides/notesSlide7.xml" Id="R1c79a562799f43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1ff864a0a4182" /><Relationship Type="http://schemas.openxmlformats.org/officeDocument/2006/relationships/notesSlide" Target="/ppt/notesSlides/notesSlide8.xml" Id="R4a8b65ace57942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df006dee441a5" /><Relationship Type="http://schemas.openxmlformats.org/officeDocument/2006/relationships/notesSlide" Target="/ppt/notesSlides/notesSlide9.xml" Id="R7604c2a9cf4640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66ea175de422f" /><Relationship Type="http://schemas.openxmlformats.org/officeDocument/2006/relationships/notesSlide" Target="/ppt/notesSlides/notesSlide10.xml" Id="Rab97d30e308848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c421eae6f4b93"/>
          <a:srcRect xmlns:a="http://schemas.openxmlformats.org/drawingml/2006/main" l="22509" t="0" r="22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723900"/>
            <a:ext cx="4838700" cy="4953000"/>
          </a:xfrm>
          <a:prstGeom xmlns:a="http://schemas.openxmlformats.org/drawingml/2006/main" prst="roundRect">
            <a:avLst>
              <a:gd name="adj" fmla="val 236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E7D3C-C152-4EBB-BEF5-9714108B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C3B47-0417-4F98-8AAE-B54BD640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811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2033"/>
                </a:solidFill>
              </a:defRPr>
            </a:pPr>
            <a:r>
              <a:rPr sz="4050" b="1">
                <a:solidFill>
                  <a:srgbClr val="142033"/>
                </a:solidFill>
              </a:rPr>
              <a:t>零件设计智能体优化工作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B938B-1D46-4A6D-89C0-A92368DC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15A96"/>
                </a:solidFill>
              </a:defRPr>
            </a:pPr>
            <a:r>
              <a:rPr sz="3750" b="1">
                <a:solidFill>
                  <a:srgbClr val="215A96"/>
                </a:solidFill>
              </a:rPr>
              <a:t>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99853-52CB-496A-B4D7-F8BB0681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C394A"/>
                </a:solidFill>
              </a:defRPr>
            </a:pPr>
            <a:r>
              <a:rPr sz="1650" b="0">
                <a:solidFill>
                  <a:srgbClr val="2C394A"/>
                </a:solidFill>
              </a:rPr>
              <a:t>按623执行安排，汇报技术路线、真实产出、工作量和阶段成效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D3ECB-C12D-4972-97C7-DF6EDF62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48958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E4FEB-A4F2-4FD2-BAE3-7A48BA9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汇报口径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B7907-FAE1-4989-822F-FA241F2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</a:defRPr>
            </a:pPr>
            <a:r>
              <a:rPr sz="1275" b="0">
                <a:solidFill>
                  <a:srgbClr val="617086"/>
                </a:solidFill>
              </a:rPr>
              <a:t>先讲工作目的和技术路径，再讲产出工作量；阶段结果与演示集中放在最后两页。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CBC14-AF4F-472A-BAAF-27B0EC0A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76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7086"/>
                </a:solidFill>
              </a:defRPr>
            </a:pPr>
            <a:r>
              <a:rPr sz="1350" b="1">
                <a:solidFill>
                  <a:srgbClr val="617086"/>
                </a:solidFill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350446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6D6D1-7F15-4DC9-91F6-C2DEC710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工作目的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6623B-1C33-463C-A382-9A244B0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本轮优化的核心目标：从“能调用工具”走向“可靠交付”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6F0B7-14DE-4EEB-A20B-B575CD8C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2845C-392F-4586-833A-B5947607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BC2D0-663A-4894-A632-784B2806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59995-6C62-45AE-B5E6-0145C503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6"/>
                </a:solidFill>
              </a:defRPr>
            </a:pPr>
            <a:r>
              <a:rPr sz="1500" b="0">
                <a:solidFill>
                  <a:srgbClr val="617086"/>
                </a:solidFill>
              </a:rPr>
              <a:t>本轮工作不是简单增加工具数量，而是补齐智能体在真实设计流程中的三类短板：系统边界、业务规则和验收证据。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62A59-0329-412E-8849-FAC1C39A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76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14090-6E91-4B63-ABB3-F54E2560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10747-1126-418E-84B2-FED608E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系统边界不清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1320B-2CB8-433E-8105-D49BB30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IPM、QPP、ECMS/ECR、TC各自承担不同业务角色；若入口判断错误，后续模板、参数和报告都会偏离。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61A17-5375-41D2-9F5A-8519A50E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276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6D6B8-92F6-4967-8489-C130D5C2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B034F-1923-417C-8323-D3F8624C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工具调用风险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A5B25-E10D-40E2-A6A0-8FFFE98B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查询可以快速执行，但NX写入、保存、TC上传、复制、覆盖必须有明确对象、差异和用户确认。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5E41D-DBFC-4232-A61C-227D634E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3276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9744D-F9C8-4B20-9AF9-71D4DFB8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E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C21DE-B8B0-4958-A7FB-FCCE26A4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效果难以复核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B28CC-F84B-403E-843C-CFB42E03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如果没有测试案例、评价权重、运行日志和文件证据，效果只能靠主观描述，无法支撑验收。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443B1-6E29-43A5-B9F5-E728201C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486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32A7D-4E57-4B84-BAAB-8B169B9C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因此，本轮优化的主线是：把接口事实、专家经验和测试标准转化为智能体可执行、可验证、可持续改进的运行规则。</a:t>
            </a:r>
          </a:p>
        </p:txBody>
      </p:sp>
    </p:spTree>
    <p:extLst>
      <p:ext uri="{BB962C8B-B14F-4D97-AF65-F5344CB8AC3E}">
        <p14:creationId xmlns:p14="http://schemas.microsoft.com/office/powerpoint/2010/main" val="1008653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576D09-F40C-4CD7-AE50-5B6D4225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623工作安排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DB786-F361-49D7-B823-85A02529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按623执行安排形成的工作包与产出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D3BD2-FA61-43F3-9E54-02D5952F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8EB39-5D0D-4E5F-8E51-71FB41F0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6DEEC-9B5B-4AE4-8F0C-FC6C51F4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E561D-F536-4B4A-8159-6AD1076A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E771B-D553-4AA8-9FA1-1C77C663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409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4CD19-08DF-4A66-8766-04A2998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牵头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EB1FE-185A-44EB-B9C4-84C20357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62100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已形成/沉淀的产出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32B3F-08B2-400C-8843-837873C4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62100"/>
            <a:ext cx="3981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技术用途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AA809-E583-480D-BA57-AA068245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6B47A-0EF1-444F-833A-8B37B9CC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接口源码分析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B956D-6800-477F-985F-ADB28D6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97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0E17C-C884-4971-801D-51D4464E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博强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587C6-4453-4219-B5CC-41F3C3A1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97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2D54E-487B-4411-BB73-A182BF99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363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四大系统接口分析报告、调用工具改进方案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1D94D-4D4E-4190-AA8E-BE51EC24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3738A-1C22-4DA1-BFEC-A7D3D7E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98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明确系统定位、输入输出、字段错误影响和调用边界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3E8D7-B021-4503-A3B0-FD53B4A3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95ED4C-00E5-468E-955F-D4EBA938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接口模块说明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E6758-7EFE-46A0-BDB2-42C95D92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642A6-A143-4A81-906E-1CF048F3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38425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明芮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CBA67-8FE5-4394-AECD-5EA7C85D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33714-B209-46B4-856B-34F8A0D7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38425"/>
            <a:ext cx="363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IPM/QPP/ECMS/TC等7份工具说明书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4CD75-9882-4A6F-BBE3-D9348433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FDE2D-93EF-405D-9F7F-68EF6692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38425"/>
            <a:ext cx="398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把工具能力文档化，供智能体提示词和Skill引用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4D3AA-4F27-4C35-ACB8-6703C2A1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A985C-BB86-40F2-B61C-CB48448C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业务操作示例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0625D-4D9F-4A0B-A541-2E91569D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EC5D00-8C82-4F9C-A977-3AF93337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世豪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CDF019-B1A7-4F7E-92E3-3100D9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95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261DFE-FD57-426B-A68F-1A2C10D3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363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围绕7个任务的专家操作示例集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68B1A8-B279-4730-9663-3EBDBA61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946F1D-326A-435A-9B89-CBC6CADE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398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将真实工作过程转为训练样例、测试样例和异常样例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6DB23F-7233-495F-85E8-F24D17D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6E2AF-DDC4-4754-B1BA-6FE8FCDE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测试案例评价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06E2F8-BE5C-4D69-B7E3-2A6EC1B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482B4A-3486-4F39-8AC4-234B773E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24275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新朝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B0C887-2D31-4F87-B76D-C42B79D8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38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633094-E165-48E5-935E-97FC49AE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24275"/>
            <a:ext cx="363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23个业务测试案例、评价标准、日志和测试结果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F91DBE-4DB5-4E8D-B512-A0BFE079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84E607-9199-463E-9122-174D205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24275"/>
            <a:ext cx="398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建立客观评价口径，支撑阶段效果和后续验收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71942B-E180-4237-8943-71D51177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E2375D-7775-4F3C-8E7A-9DDE52B5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用户使用说明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4F02E7-D1E8-48AC-B91B-3A41651D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81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4F74DD-48F3-4E93-8C87-2BC1D6C4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新朝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81149F-BFB2-4504-9799-CB9B7B29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81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3FC765-F264-4459-A242-D9C25B9F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363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按测试案例整理的用户侧说明材料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3E5C65-BC63-42BF-91C0-7B24EA08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814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BB03D7-9EB7-40FA-A683-0527F97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398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规范提示词、输入数据、运行状态和异常处理方式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2902FD-FB8A-4446-A2FB-AEB25B28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C45EAF-5CF1-43A2-B0FC-F666F733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模块化拆解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98F0F6-B374-4F01-B372-B4D40EC1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24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A8C328-30DA-4B9F-AB10-D285561A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博强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F8552D-506E-48F7-8156-BF5497F8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24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78B898-CB33-486A-B517-23A2B9E8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10125"/>
            <a:ext cx="363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1个主智能体、7个子智能体、15类技能流程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8EF83B-07D5-4718-B900-F741DB0B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3FD43E-CF38-403D-BFFD-52423E19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398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实现职责隔离、工具权限控制和任务级复用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53EC06-AA0C-4ED2-A5E1-3E658B9D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B1BBD5-D493-4A5B-9F7D-FDFBD1DA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持续改进SOP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E6E299-14DE-4D85-AC32-DF7CA3FE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73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40E6C5-8083-4596-ADC6-050BABA8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博强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F79B24-4DB7-4297-8327-86F14AE2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673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C503D8-B77A-4098-AC48-BF309311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53050"/>
            <a:ext cx="363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日志取证、指标定位、失败归因、修订与复测流程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B19B1A-C944-4881-96D5-6C208D3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673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B5703C-C99E-4799-8A82-8E4E242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53050"/>
            <a:ext cx="398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394A"/>
                </a:solidFill>
              </a:defRPr>
            </a:pPr>
            <a:r>
              <a:rPr sz="1050" b="0">
                <a:solidFill>
                  <a:srgbClr val="2C394A"/>
                </a:solidFill>
              </a:rPr>
              <a:t>把后续优化从经验处理转为闭环治理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B3761C-5488-4F9B-8A6C-B3DD2FC2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本页只说明工作安排和产出结构，阶段效果集中在第9页。</a:t>
            </a:r>
          </a:p>
        </p:txBody>
      </p:sp>
    </p:spTree>
    <p:extLst>
      <p:ext uri="{BB962C8B-B14F-4D97-AF65-F5344CB8AC3E}">
        <p14:creationId xmlns:p14="http://schemas.microsoft.com/office/powerpoint/2010/main" val="1321991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F3BFC-4C29-4DCD-9E55-0DC3943C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接口治理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C92ED-A1BD-4A9A-847D-D253DDFC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技术路线一：先把四大系统入口和字段规则治理清楚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9D519-EB5F-4B68-A932-E425E67B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4A2F1-0448-4ED4-B0A0-E56DC8D6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87872-A7BA-4E52-9462-047F55B1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22626-8D1A-40DE-BCD9-E36E8D0A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1E6AA-93B0-4153-91F1-2D98100E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5A96"/>
                </a:solidFill>
              </a:defRPr>
            </a:pPr>
            <a:r>
              <a:rPr sz="2100" b="1">
                <a:solidFill>
                  <a:srgbClr val="215A96"/>
                </a:solidFill>
              </a:rPr>
              <a:t>IPM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3D21B-2547-4105-AAA0-8CB4CD5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设计任务入口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A57FF-00A0-4C87-B2F5-5353121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优先使用责任人/登录用户身份；任务名称和任务内容原文必须保留，供用户确认。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C6A81-7B47-404E-8111-42499F0B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8590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E836A-023A-40C9-B810-FCA6ED93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52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9A9A"/>
                </a:solidFill>
              </a:defRPr>
            </a:pPr>
            <a:r>
              <a:rPr sz="2100" b="1">
                <a:solidFill>
                  <a:srgbClr val="0C9A9A"/>
                </a:solidFill>
              </a:rPr>
              <a:t>QPP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C2957-A89C-426C-8F02-CF66F2AA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28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质量计划要求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24BDA-40D0-4F23-B925-E36178EC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不替代任务入口；查询条件不能过空，异常要单独说明，避免误判为智能体失败。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01CC3-B371-4391-B3E1-4981B0A4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DF6B1-CDAC-4615-8D0B-103FC9AE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4D"/>
                </a:solidFill>
              </a:defRPr>
            </a:pPr>
            <a:r>
              <a:rPr sz="2100" b="1">
                <a:solidFill>
                  <a:srgbClr val="2F7D4D"/>
                </a:solidFill>
              </a:rPr>
              <a:t>ECMS/ECR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F0DB9-D431-4C91-9AE0-32603812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变更背景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F20C7-0408-4CC9-B9DC-1634E9C9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统一变更编号、状态和主题口径；避免无关变更影响后续判断。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21269-549E-4D4B-8EC9-75E5205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90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661AD-820D-4B35-BA12-1CA38415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6E16"/>
                </a:solidFill>
              </a:defRPr>
            </a:pPr>
            <a:r>
              <a:rPr sz="2100" b="1">
                <a:solidFill>
                  <a:srgbClr val="B66E16"/>
                </a:solidFill>
              </a:rPr>
              <a:t>TC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9A951-D6EE-4C5C-81EC-7AFD3E0D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28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模板与受控资料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94F46-E124-4586-89B6-6560E988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区分候选资料、已打开模型和已确认WorkPart；上传复制覆盖必须确认。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6127D-A01D-4C16-81AC-234C601C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820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718CA-0721-4403-9847-EB006A49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从接口源码到运行规则的转化路径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5C5D3-6630-4CF6-AAB1-82E184B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A96"/>
                </a:solidFill>
              </a:defRPr>
            </a:pPr>
            <a:r>
              <a:rPr sz="1350" b="1">
                <a:solidFill>
                  <a:srgbClr val="215A96"/>
                </a:solidFill>
              </a:rPr>
              <a:t>系统定位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81003-2913-4749-BDCD-375D7EC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86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7086"/>
                </a:solidFill>
              </a:defRPr>
            </a:pPr>
            <a:r>
              <a:rPr sz="16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FB3D1-B06F-48B9-92E4-AC6EABBF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9A9A"/>
                </a:solidFill>
              </a:defRPr>
            </a:pPr>
            <a:r>
              <a:rPr sz="1350" b="1">
                <a:solidFill>
                  <a:srgbClr val="0C9A9A"/>
                </a:solidFill>
              </a:rPr>
              <a:t>入参/出参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EACD2-A205-4F91-B9DF-65F98C76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86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7086"/>
                </a:solidFill>
              </a:defRPr>
            </a:pPr>
            <a:r>
              <a:rPr sz="16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74084-3676-4956-A703-4D016E4F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86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4D"/>
                </a:solidFill>
              </a:defRPr>
            </a:pPr>
            <a:r>
              <a:rPr sz="1350" b="1">
                <a:solidFill>
                  <a:srgbClr val="2F7D4D"/>
                </a:solidFill>
              </a:rPr>
              <a:t>错误影响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B7389-AA5A-436D-B98B-B6CCFB2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86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7086"/>
                </a:solidFill>
              </a:defRPr>
            </a:pPr>
            <a:r>
              <a:rPr sz="16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A03EE-9C08-4380-AC81-A18DF0FF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86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6E16"/>
                </a:solidFill>
              </a:defRPr>
            </a:pPr>
            <a:r>
              <a:rPr sz="1350" b="1">
                <a:solidFill>
                  <a:srgbClr val="B66E16"/>
                </a:solidFill>
              </a:rPr>
              <a:t>查询保护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831CC-D660-4FBD-966A-01DF621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7086"/>
                </a:solidFill>
              </a:defRPr>
            </a:pPr>
            <a:r>
              <a:rPr sz="16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86B2B-BF64-4A7B-8EC2-B7CF11A2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A96"/>
                </a:solidFill>
              </a:defRPr>
            </a:pPr>
            <a:r>
              <a:rPr sz="1350" b="1">
                <a:solidFill>
                  <a:srgbClr val="215A96"/>
                </a:solidFill>
              </a:rPr>
              <a:t>候选确认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69BB6-3AA9-41F2-AEDD-0610A21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7086"/>
                </a:solidFill>
              </a:defRPr>
            </a:pPr>
            <a:r>
              <a:rPr sz="16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0A966-CBEF-45E5-9873-AA010265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863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9A9A"/>
                </a:solidFill>
              </a:defRPr>
            </a:pPr>
            <a:r>
              <a:rPr sz="1350" b="1">
                <a:solidFill>
                  <a:srgbClr val="0C9A9A"/>
                </a:solidFill>
              </a:rPr>
              <a:t>证据返回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A0DFC2-6D10-46C4-8F25-B9F1DF00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5A96"/>
                </a:solidFill>
              </a:defRPr>
            </a:pPr>
            <a:r>
              <a:rPr sz="1350" b="1">
                <a:solidFill>
                  <a:srgbClr val="215A96"/>
                </a:solidFill>
              </a:rPr>
              <a:t>工作量：覆盖IPM、QPP、ECMS/ECR、TC四类系统，形成接口分析报告、工具说明书和调用改进方案。</a:t>
            </a:r>
          </a:p>
        </p:txBody>
      </p:sp>
    </p:spTree>
    <p:extLst>
      <p:ext uri="{BB962C8B-B14F-4D97-AF65-F5344CB8AC3E}">
        <p14:creationId xmlns:p14="http://schemas.microsoft.com/office/powerpoint/2010/main" val="2074703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2F0C4-092D-42B8-B5BF-315EE631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资料沉淀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88F7A-0B8B-4E8E-BADA-9C073B04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技术路线二：把文档和示例转成智能体可执行约束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377C8-6975-4F7C-8BF1-9E0105D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403AC-53BC-434B-942E-6D6378D8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0DBB3-DC48-44AD-B767-C7053D9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C9D22-9646-4508-AC94-957FC85A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6"/>
                </a:solidFill>
              </a:defRPr>
            </a:pPr>
            <a:r>
              <a:rPr sz="1500" b="0">
                <a:solidFill>
                  <a:srgbClr val="617086"/>
                </a:solidFill>
              </a:rPr>
              <a:t>中间工作的价值不在于“写了很多文档”，而在于把文档变成运行时可检查的规则。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95E2E-9CCB-4825-9774-19E7482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CC349-F193-42C6-8B3D-91637F23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资料来源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4AC9B-3025-4B1F-BF51-07ECE5D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193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沉淀内容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701D6-BF3C-4128-BECB-3087DC1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193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进入智能体后的作用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33EF7-AE5B-411A-9685-3FC45367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1F019-79D3-43C3-B2A5-A879C074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384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33"/>
                </a:solidFill>
              </a:defRPr>
            </a:pPr>
            <a:r>
              <a:rPr sz="1200" b="1">
                <a:solidFill>
                  <a:srgbClr val="142033"/>
                </a:solidFill>
              </a:rPr>
              <a:t>接口说明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F4F87-0EBE-4461-83BA-A6D0A5C2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36CF6-A654-47A7-9F42-E8104206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3842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394A"/>
                </a:solidFill>
              </a:defRPr>
            </a:pPr>
            <a:r>
              <a:rPr sz="1200" b="0">
                <a:solidFill>
                  <a:srgbClr val="2C394A"/>
                </a:solidFill>
              </a:rPr>
              <a:t>工具用途、参数、返回字段、错误影响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A2A64-5D9E-4546-8AE9-5F05EC7F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AE32A-A081-4D1E-995C-A757161B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3842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394A"/>
                </a:solidFill>
              </a:defRPr>
            </a:pPr>
            <a:r>
              <a:rPr sz="1200" b="0">
                <a:solidFill>
                  <a:srgbClr val="2C394A"/>
                </a:solidFill>
              </a:rPr>
              <a:t>工具选择、参数校验、空查询拦截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A9EEA-98D4-4419-9AF0-1D9E8043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D3299-8639-426F-94A2-92C74B26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33"/>
                </a:solidFill>
              </a:defRPr>
            </a:pPr>
            <a:r>
              <a:rPr sz="1200" b="1">
                <a:solidFill>
                  <a:srgbClr val="142033"/>
                </a:solidFill>
              </a:rPr>
              <a:t>业务示例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A0959-45EA-46DE-8FC1-E547A6C3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813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0C9E7-DE76-43BC-8166-E449E05B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670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394A"/>
                </a:solidFill>
              </a:defRPr>
            </a:pPr>
            <a:r>
              <a:rPr sz="1200" b="0">
                <a:solidFill>
                  <a:srgbClr val="2C394A"/>
                </a:solidFill>
              </a:rPr>
              <a:t>专家真实话术、输入材料、处理顺序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1C2D2-4F30-486F-A038-4B92570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CE01A-0001-4FC6-8627-EFECE56D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670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394A"/>
                </a:solidFill>
              </a:defRPr>
            </a:pPr>
            <a:r>
              <a:rPr sz="1200" b="0">
                <a:solidFill>
                  <a:srgbClr val="2C394A"/>
                </a:solidFill>
              </a:rPr>
              <a:t>路由规则、提示词样例、异常样例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1B385-90C8-4BEB-BA93-8F23EE3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D9C26-29F0-4FBC-BF06-9353C4C4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33"/>
                </a:solidFill>
              </a:defRPr>
            </a:pPr>
            <a:r>
              <a:rPr sz="1200" b="1">
                <a:solidFill>
                  <a:srgbClr val="142033"/>
                </a:solidFill>
              </a:rPr>
              <a:t>测试案例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BBBA5E-7889-431B-AFE0-60893A80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F2E60-84BC-49EC-8F60-66366667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9572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394A"/>
                </a:solidFill>
              </a:defRPr>
            </a:pPr>
            <a:r>
              <a:rPr sz="1200" b="0">
                <a:solidFill>
                  <a:srgbClr val="2C394A"/>
                </a:solidFill>
              </a:rPr>
              <a:t>输入、期望输出、允许偏差、评价权重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83F55-1DA5-4A35-80A6-D3BC187B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139751-24F0-4636-AD22-DFE014D0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9572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394A"/>
                </a:solidFill>
              </a:defRPr>
            </a:pPr>
            <a:r>
              <a:rPr sz="1200" b="0">
                <a:solidFill>
                  <a:srgbClr val="2C394A"/>
                </a:solidFill>
              </a:rPr>
              <a:t>检查点、扣分依据、回归测试范围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1A6B8-CC21-4CBB-8FCD-0CCD85EB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2A146-AF06-4C8D-A882-5F6F809B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243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33"/>
                </a:solidFill>
              </a:defRPr>
            </a:pPr>
            <a:r>
              <a:rPr sz="1200" b="1">
                <a:solidFill>
                  <a:srgbClr val="142033"/>
                </a:solidFill>
              </a:rPr>
              <a:t>用户说明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202129-2F0A-4A5A-BB88-5ECEDD76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386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2301BF-51DC-462E-8364-EFFD529D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243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394A"/>
                </a:solidFill>
              </a:defRPr>
            </a:pPr>
            <a:r>
              <a:rPr sz="1200" b="0">
                <a:solidFill>
                  <a:srgbClr val="2C394A"/>
                </a:solidFill>
              </a:rPr>
              <a:t>提示词格式、输入要求、状态和错误处理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C0A708-4332-47CF-BF9B-6FCA1ACA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292113-0A48-474D-B74B-848308D1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243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C394A"/>
                </a:solidFill>
              </a:defRPr>
            </a:pPr>
            <a:r>
              <a:rPr sz="1200" b="0">
                <a:solidFill>
                  <a:srgbClr val="2C394A"/>
                </a:solidFill>
              </a:rPr>
              <a:t>用户确认点、补充信息和问题反馈口径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21CF9F-292B-4C50-BC7E-B2197C5B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53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A5D77C-4A03-4C80-AF5D-2104E30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0"/>
            <a:ext cx="868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这一步让智能体从“凭模型理解”转为“按接口事实、业务示例和测试标准执行”。</a:t>
            </a:r>
          </a:p>
        </p:txBody>
      </p:sp>
    </p:spTree>
    <p:extLst>
      <p:ext uri="{BB962C8B-B14F-4D97-AF65-F5344CB8AC3E}">
        <p14:creationId xmlns:p14="http://schemas.microsoft.com/office/powerpoint/2010/main" val="103889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8DBF5-4E4E-4A58-A505-D180908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架构拆解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E11CB-E85B-469B-B25A-EBCF30F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技术路线三：主智能体编排，7个子智能体按职责交付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F0C22-8B3C-4473-8CED-C516A0BE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E11EF-2D29-4303-AE22-2EC6F34E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04BF7-3773-4109-816D-3984BC37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772A8-AB8C-4093-BB6A-82B2CF6F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143250" cy="36004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B4F48-7743-49E4-AE62-D8886BBC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主智能体边界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D38AA-C76E-4AF9-B804-4A1DFEA9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B665C-C309-4536-915A-FAA6810E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只做用户意图理解、任务编排和必要确认。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B5E4A-F808-4EB6-80AF-BCF730AA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05BC9-3AAD-485B-A96C-ADF57AED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不直接调用NX、Teamcenter、MySQL、报告或DFMEA工具。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260AE-0E52-49C6-AFB9-511DB953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E9DA7-61B4-4EFD-9884-83FF74B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需要业务动作时，分派给对应子智能体，并带齐已知事实和期望结果。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0A112-BA96-4F80-ABB9-F608C10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66850"/>
            <a:ext cx="727710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9A529-6503-481A-9DBF-8E5B4B3C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7个子智能体的职责边界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EB790-DD36-4EE9-9B42-5EBA2C1C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A5F71-C9D4-41C2-84AB-32B0ED4A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任务抓取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20B8B-B26B-49E2-9FE3-A3B3A064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保留原始任务事实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EE031-7F98-4C40-8F36-D49DBA7C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01A3F-01CF-4E2F-9165-F5C8476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模板调用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0EA13-41ED-41C1-9DAA-1A04F6E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确认模板和WorkPart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6A14B-F834-44B5-AF2E-EDDDB426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0A000A-2D3F-4EEF-A48F-610250F4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参数处理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6BF46-EB68-4D9D-9AB8-AA85E62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146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证据、公式、映射、写入计划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523D1-F3A7-4FA3-9B31-B28437BE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21676-693C-425B-9786-6A03C72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建模回传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552A4-C6C3-47C1-B81A-9FA3BF4C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确认后写入、回读、保存、回传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68F67-2294-427C-BCB5-75C7D549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8EE92-37D6-4E5B-90BC-DD12200D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图纸更新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655BB-0E07-419F-97E0-5464E58D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81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图纸对象、视图和截图证据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CAA2F-9BC2-4BD4-9BDA-56B93E00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1293D-61E1-4BE6-B89F-9D20AE29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DFMEA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C77A97-0DEC-4ADA-8678-8C718732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81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受控模板、风险项和校验结果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AB155F-1F74-4D8C-B9D2-340133C7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0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E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753CD7-CE37-4448-9F0B-5F700618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说明书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1B6E4D-6434-4407-8C61-F9A207C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48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证据收集和DOCX文件生成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8B4A5B-9A20-410D-B83C-47BD7A6D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626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5A96"/>
                </a:solidFill>
              </a:defRPr>
            </a:pPr>
            <a:r>
              <a:rPr sz="1500" b="1">
                <a:solidFill>
                  <a:srgbClr val="215A96"/>
                </a:solidFill>
              </a:rPr>
              <a:t>工作量：8个Agent定义、15类Skill流程，并通过工具白名单和禁止事项控制职责越界。</a:t>
            </a:r>
          </a:p>
        </p:txBody>
      </p:sp>
    </p:spTree>
    <p:extLst>
      <p:ext uri="{BB962C8B-B14F-4D97-AF65-F5344CB8AC3E}">
        <p14:creationId xmlns:p14="http://schemas.microsoft.com/office/powerpoint/2010/main" val="353005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C7B83-1802-4CB8-A6A2-EF4F6D91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关键链路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5C067-84DE-4833-A4A9-75BF49D8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技术路线四：参数 / NX / TC链路设置可复核门禁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F2718-003E-4448-A9BB-B317273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602A-97FD-45FA-8F19-872DD17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25378-6340-4811-8ADB-2FDB4D4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31D16-A3CE-4DFD-93B2-DCDABF79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6"/>
                </a:solidFill>
              </a:defRPr>
            </a:pPr>
            <a:r>
              <a:rPr sz="1500" b="0">
                <a:solidFill>
                  <a:srgbClr val="617086"/>
                </a:solidFill>
              </a:rPr>
              <a:t>参数处理与建模回传是风险最高的链路，重点不是让模型直接写入，而是分阶段取证、确认、执行和回读。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CDBDD-A214-42E0-A3A3-1B20CFB5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29737-4122-424E-920B-4422A0B2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8D735-EFFD-4B48-B58C-3A3F09CA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5A96"/>
                </a:solidFill>
              </a:defRPr>
            </a:pPr>
            <a:r>
              <a:rPr sz="1875" b="1">
                <a:solidFill>
                  <a:srgbClr val="215A96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72751-0306-4A75-9BD8-2A5F2D77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288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对象确认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1EADD-2098-410E-886B-D59FE56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98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IPM任务、TC模板、NX WorkPart分别确认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9312E-51C5-47AD-B289-84937987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383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5C37A-6712-4FE0-89C0-6E3CCF9E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38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0EB18-52B3-4D49-A29D-DB1AE13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9A9A"/>
                </a:solidFill>
              </a:defRPr>
            </a:pPr>
            <a:r>
              <a:rPr sz="1875" b="1">
                <a:solidFill>
                  <a:srgbClr val="0C9A9A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E3374-86F6-44CC-A3F1-F0F64799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参数证据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D4C36-E49E-4043-9D00-B7B5CA5D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任务文本、词典、公式源和NX表达式共同校验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08033-2E72-435D-99C9-7EF014D9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383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BB8EC-409C-4A95-BC33-4F881E67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38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4A8EC-BF31-434B-96D5-B99D2E3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D4D"/>
                </a:solidFill>
              </a:defRPr>
            </a:pPr>
            <a:r>
              <a:rPr sz="1875" b="1">
                <a:solidFill>
                  <a:srgbClr val="2F7D4D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97109-0CEF-4D13-8F0B-71BBC727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写入计划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9E643-E793-4B71-8E2B-620216ED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列出来源、单位、冲突和待确认项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1B4E9-BDCD-4962-AA1A-68C98748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6504F-CDFB-4354-8E7C-BCEE240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E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0B4E9-E4C8-4ED3-9E92-4C3329CA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66E16"/>
                </a:solidFill>
              </a:defRPr>
            </a:pPr>
            <a:r>
              <a:rPr sz="1875" b="1">
                <a:solidFill>
                  <a:srgbClr val="B66E16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052DF-0E08-4B42-AD6B-66A966CD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288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执行回读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666B2-8F28-4E40-909C-7E6E4139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按确认计划写入，并回读保存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68BC8-9ADD-4779-BA19-1C2AF188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3835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88200-8DC0-410A-9292-A3F16FC0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38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6D5B2-A92A-4188-A944-EF7942C8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423B"/>
                </a:solidFill>
              </a:defRPr>
            </a:pPr>
            <a:r>
              <a:rPr sz="1875" b="1">
                <a:solidFill>
                  <a:srgbClr val="B8423B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B3DB5D-6C1A-4189-BFAD-C393536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288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回传证据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331F4-7AF9-4853-A85C-B7514E47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上传复制覆盖前列目标和文件证据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82876B-B838-4B17-B456-02001A07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4686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8F55C-CD57-42B0-A619-6435E3E0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参数智能体的边界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0D172F-6EE7-4520-81BF-2F1F387D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94A"/>
                </a:solidFill>
              </a:defRPr>
            </a:pPr>
            <a:r>
              <a:rPr sz="1350" b="0">
                <a:solidFill>
                  <a:srgbClr val="2C394A"/>
                </a:solidFill>
              </a:rPr>
              <a:t>只负责证据提取、公式源解析、NX表达式对齐和写入计划；不调用NX写入、保存或TC上传工具。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0A3EDE-81B1-42E2-8625-C0A36C5B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46863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52609F-0E9A-4DC0-864E-C8904333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建模回传智能体的边界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B113EB-8EE5-4F02-AEF8-0FECF900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96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94A"/>
                </a:solidFill>
              </a:defRPr>
            </a:pPr>
            <a:r>
              <a:rPr sz="1350" b="0">
                <a:solidFill>
                  <a:srgbClr val="2C394A"/>
                </a:solidFill>
              </a:rPr>
              <a:t>只执行用户确认后的写入计划，并返回写入、回读、保存和TC回传准备证据；不重新计算参数。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C6FA26-E62A-4B87-8FE0-6E3603DC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81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5A96"/>
                </a:solidFill>
              </a:defRPr>
            </a:pPr>
            <a:r>
              <a:rPr sz="1575" b="1">
                <a:solidFill>
                  <a:srgbClr val="215A96"/>
                </a:solidFill>
              </a:rPr>
              <a:t>这条链路体现了“先证据、再计划、后执行、必回读”的设计原则。</a:t>
            </a:r>
          </a:p>
        </p:txBody>
      </p:sp>
    </p:spTree>
    <p:extLst>
      <p:ext uri="{BB962C8B-B14F-4D97-AF65-F5344CB8AC3E}">
        <p14:creationId xmlns:p14="http://schemas.microsoft.com/office/powerpoint/2010/main" val="1512943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C54DF-080A-44DB-9BAF-4EBFE96A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验证闭环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20138-DE07-4A3D-A5F0-44D63EF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可靠性验证：用测试案例、评测工作台和日志闭环支撑结果可信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AE2F1-995A-4226-B8E1-0B603B1F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CEAB3-6789-40CE-A449-37703DE2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1F034-3945-4EEB-B9E0-28F62C92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81BA8-B440-4888-95F1-11064052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638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4B2DC-8A11-4C74-A42A-2037F84D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D1087-0F57-475F-BD9D-99CAD03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5A96"/>
                </a:solidFill>
              </a:defRPr>
            </a:pPr>
            <a:r>
              <a:rPr sz="2250" b="1">
                <a:solidFill>
                  <a:srgbClr val="215A96"/>
                </a:solidFill>
              </a:rPr>
              <a:t>7个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51367-BDFB-427C-B7FC-CD0361D7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B6444-07CC-4EF3-8E8F-7A8318C9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与623任务拆解一致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51BC5-FAB5-4723-AD8E-DD5DFE9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1638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5E29B-F99C-4768-8BB4-E9BAF64B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C6E46-C97C-408C-AF2C-D629095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33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9A9A"/>
                </a:solidFill>
              </a:defRPr>
            </a:pPr>
            <a:r>
              <a:rPr sz="2250" b="1">
                <a:solidFill>
                  <a:srgbClr val="0C9A9A"/>
                </a:solidFill>
              </a:rPr>
              <a:t>35个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BBA9A-2614-4377-80F7-86EDBFBF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测试场景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2E0D8-E6FB-49EA-A83C-06E0828A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每任务5个场景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32FBD-92C4-4D40-B1BA-674BA8A6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1638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58B89-C216-43D6-B4F0-305C5295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CA150-D906-40DE-B92D-34015102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33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4D"/>
                </a:solidFill>
              </a:defRPr>
            </a:pPr>
            <a:r>
              <a:rPr sz="2250" b="1">
                <a:solidFill>
                  <a:srgbClr val="2F7D4D"/>
                </a:solidFill>
              </a:rPr>
              <a:t>134项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E05E2-F109-4898-8348-142BA62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校验点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9F4AD-0363-45C8-BCA0-F857D486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按维度打分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47906-5C02-4953-BD1A-22A50092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1638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BECBA-CE40-4F5C-B13A-240F2EC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E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0370C-B435-44FE-928B-066689D4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6E16"/>
                </a:solidFill>
              </a:defRPr>
            </a:pPr>
            <a:r>
              <a:rPr sz="2250" b="1">
                <a:solidFill>
                  <a:srgbClr val="B66E16"/>
                </a:solidFill>
              </a:rPr>
              <a:t>5版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A9465-9EC0-409F-ABF8-E56220D4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测试版本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485CE-782D-44C7-ADAB-A1163A90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支持版本对比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B7429-77AA-4869-AA72-3938F2F0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2100"/>
            <a:ext cx="1638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0ECE2-E657-46A1-9463-18362D4F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07A34-8C72-4A9F-A839-C3084123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423B"/>
                </a:solidFill>
              </a:defRPr>
            </a:pPr>
            <a:r>
              <a:rPr sz="2250" b="1">
                <a:solidFill>
                  <a:srgbClr val="B8423B"/>
                </a:solidFill>
              </a:rPr>
              <a:t>58条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19712A-6A5C-49FB-B726-7E182C5E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测试记录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E906B-FF63-4BA5-B4F7-0E107E48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</a:defRPr>
            </a:pPr>
            <a:r>
              <a:rPr sz="1050" b="0">
                <a:solidFill>
                  <a:srgbClr val="617086"/>
                </a:solidFill>
              </a:rPr>
              <a:t>保留复盘证据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5CABB-3DA2-4C24-A27B-04D76F5E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81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7FEAE-7458-4960-A0C5-6920DECA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评价口径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58BAE-1669-47EB-B4C8-6F968934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功能正确性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DDE4CD-FC98-487F-A84B-BA315CE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8145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DC4B93-3C37-4291-B610-93E37A1E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8145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1D5F74-A5C4-4B3C-B75C-08C54199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243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5A96"/>
                </a:solidFill>
              </a:defRPr>
            </a:pPr>
            <a:r>
              <a:rPr sz="1125" b="1">
                <a:solidFill>
                  <a:srgbClr val="215A96"/>
                </a:solidFill>
              </a:rPr>
              <a:t>40%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0AB416-99E4-4860-9C68-3F2CBACF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交互友好性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4FAEF8-56A9-49B5-8B54-1FE014B6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005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CAF3F3-0091-4E3A-9822-B05E505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0050"/>
            <a:ext cx="1047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0A6468-1051-47AF-B998-93DD1F4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52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20%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509332-B5B4-4B82-B4FE-B62E098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异常处理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89208F-C4E3-425D-9853-BA3AF2A0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3865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173545-01B8-492F-BC83-F81FEF4A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38650"/>
            <a:ext cx="1047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AF009E-9059-4225-BB17-C8EE1B6A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81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4D"/>
                </a:solidFill>
              </a:defRPr>
            </a:pPr>
            <a:r>
              <a:rPr sz="1125" b="1">
                <a:solidFill>
                  <a:srgbClr val="2F7D4D"/>
                </a:solidFill>
              </a:rPr>
              <a:t>20%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42AB3D-F773-4F75-903C-72DF1CF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数据一致性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F8631B-4B98-479D-A1DF-E3DC1927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6725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32FA15-1F1A-4A24-840E-260EB775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67250"/>
            <a:ext cx="523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E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F646F7-4098-43AB-A403-B6D22F23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0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E16"/>
                </a:solidFill>
              </a:defRPr>
            </a:pPr>
            <a:r>
              <a:rPr sz="1125" b="1">
                <a:solidFill>
                  <a:srgbClr val="B66E16"/>
                </a:solidFill>
              </a:rPr>
              <a:t>10%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F9C9CA-A465-4A39-837D-34A54C00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C394A"/>
                </a:solidFill>
              </a:defRPr>
            </a:pPr>
            <a:r>
              <a:rPr sz="1125" b="0">
                <a:solidFill>
                  <a:srgbClr val="2C394A"/>
                </a:solidFill>
              </a:rPr>
              <a:t>响应时效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939D0E-D94F-46C6-825B-3E70109B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B7B7F0-DCA0-478E-B9C6-2A2F85C2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523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AD3BD6-6701-468A-A34D-F8CA9E2F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387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23B"/>
                </a:solidFill>
              </a:defRPr>
            </a:pPr>
            <a:r>
              <a:rPr sz="1125" b="1">
                <a:solidFill>
                  <a:srgbClr val="B8423B"/>
                </a:solidFill>
              </a:rPr>
              <a:t>10%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017265-B2AD-4F14-871E-DE04C91E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5600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F1C1ED-327F-4356-81DB-EA0FA4D4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失败处理闭环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251CD-0301-4FC0-BB3A-63DDF940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7810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97A065-CCEC-4F2E-AE74-E02EAFC9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624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15A96"/>
                </a:solidFill>
              </a:defRPr>
            </a:pPr>
            <a:r>
              <a:rPr sz="975" b="1">
                <a:solidFill>
                  <a:srgbClr val="215A96"/>
                </a:solidFill>
              </a:rPr>
              <a:t>评测定位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62985D-4786-4585-BAFE-1C7717A3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33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17086"/>
                </a:solidFill>
              </a:defRPr>
            </a:pPr>
            <a:r>
              <a:rPr sz="13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11A0EB-78AF-452C-AEE6-9EA5105A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7810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6F6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91CD43-A10A-4C69-8E5D-17AA4BBF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624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C9A9A"/>
                </a:solidFill>
              </a:defRPr>
            </a:pPr>
            <a:r>
              <a:rPr sz="975" b="1">
                <a:solidFill>
                  <a:srgbClr val="0C9A9A"/>
                </a:solidFill>
              </a:rPr>
              <a:t>运行日志取证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F66364-4B70-4A8B-A9B1-28C9B68F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33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17086"/>
                </a:solidFill>
              </a:defRPr>
            </a:pPr>
            <a:r>
              <a:rPr sz="13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E618B8-8644-4C9F-8C00-D65D5FF6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7810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71915F-1489-4D3B-B884-E6B31EF2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624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D4D"/>
                </a:solidFill>
              </a:defRPr>
            </a:pPr>
            <a:r>
              <a:rPr sz="975" b="1">
                <a:solidFill>
                  <a:srgbClr val="2F7D4D"/>
                </a:solidFill>
              </a:rPr>
              <a:t>失败归因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F5DC58-BB2D-4188-B509-0DE4B1F7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17086"/>
                </a:solidFill>
              </a:defRPr>
            </a:pPr>
            <a:r>
              <a:rPr sz="13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F23971-FFFD-41C3-9CC6-B22C9D40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7810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6DB986-9CA8-42EC-BAE7-EE00D998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624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6E16"/>
                </a:solidFill>
              </a:defRPr>
            </a:pPr>
            <a:r>
              <a:rPr sz="975" b="1">
                <a:solidFill>
                  <a:srgbClr val="B66E16"/>
                </a:solidFill>
              </a:rPr>
              <a:t>无代码修订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FF6E82-2120-4BA0-B39F-F1D8B638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33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17086"/>
                </a:solidFill>
              </a:defRPr>
            </a:pPr>
            <a:r>
              <a:rPr sz="1350" b="1">
                <a:solidFill>
                  <a:srgbClr val="617086"/>
                </a:solidFill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B52FF5-6D27-4113-BDF9-0440CEC6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38600"/>
            <a:ext cx="7810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9CEB6C-2FF0-4954-843F-B1F221F2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624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423B"/>
                </a:solidFill>
              </a:defRPr>
            </a:pPr>
            <a:r>
              <a:rPr sz="975" b="1">
                <a:solidFill>
                  <a:srgbClr val="B8423B"/>
                </a:solidFill>
              </a:rPr>
              <a:t>复测关闭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526D25-5B19-4807-8D3A-251657F2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5A96"/>
                </a:solidFill>
              </a:defRPr>
            </a:pPr>
            <a:r>
              <a:rPr sz="1200" b="1">
                <a:solidFill>
                  <a:srgbClr val="215A96"/>
                </a:solidFill>
              </a:rPr>
              <a:t>关闭原则：原失败场景、相邻场景和历史通过场景复测通过，且无新增硬性失败。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D6A9B8-BC31-47EC-8644-EC90067C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38800"/>
            <a:ext cx="944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这个闭环让结果从“看起来有效”转为“有案例、有日志、有版本、有复测记录”。</a:t>
            </a:r>
          </a:p>
        </p:txBody>
      </p:sp>
    </p:spTree>
    <p:extLst>
      <p:ext uri="{BB962C8B-B14F-4D97-AF65-F5344CB8AC3E}">
        <p14:creationId xmlns:p14="http://schemas.microsoft.com/office/powerpoint/2010/main" val="1613853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59943-E22C-4CB6-BBB4-CF8EDB85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阶段结果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AE377-2119-4DAC-B40B-4BA8E3E7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阶段成效：从工具可用走向流程可验收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2B29B-8F0E-42AD-9B0F-71289662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81425-E675-4B10-ADF8-19ADA327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84388-AA36-431B-8B08-B386C9C2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58D79-D1DB-416F-A3E3-FF27A2E8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6"/>
                </a:solidFill>
              </a:defRPr>
            </a:pPr>
            <a:r>
              <a:rPr sz="1425" b="0">
                <a:solidFill>
                  <a:srgbClr val="617086"/>
                </a:solidFill>
              </a:rPr>
              <a:t>以下结果来自阶段性成效报告与评测工作台记录，保留仍需继续改进的部分。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E48DD-DC96-4DF6-B3B5-A5ACE3B9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62B26-8BD1-4663-99A0-D1C22554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DEFCF-DD70-4947-A371-8D7B849F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多系统任务抓取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AB14-CA3A-4E42-8EEC-D2FB6B3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A96"/>
                </a:solidFill>
              </a:defRPr>
            </a:pPr>
            <a:r>
              <a:rPr sz="1800" b="1">
                <a:solidFill>
                  <a:srgbClr val="215A96"/>
                </a:solidFill>
              </a:rPr>
              <a:t>约37.6 → 约99.2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E975E-FCDD-4A59-9C72-30A1007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任务检索、列表展示、来源标注和用户选择能力明显提升。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9ED5A-D9AB-4667-A7E6-CFBD0EA3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02FE2-E801-479B-9814-7B275C1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07179-2689-4502-B6F2-32A7F15E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TC/NX模板调用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E0675-2E2B-48C6-989D-43A1C46E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9A9A"/>
                </a:solidFill>
              </a:defRPr>
            </a:pPr>
            <a:r>
              <a:rPr sz="1800" b="1">
                <a:solidFill>
                  <a:srgbClr val="0C9A9A"/>
                </a:solidFill>
              </a:rPr>
              <a:t>100分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F3A2E-9D3C-493F-9D25-CD2E43DE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推荐模板、打开模型、确认当前工作对象流程基本稳定。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4F1C5-D44B-4FC9-9083-C43923E0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B4F1A-9AF0-4971-81AA-BEA5508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B2985-4CA1-4C04-B819-1954C31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参数化建模回传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D15F4-7DCF-4FB3-B15A-12318870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33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4D"/>
                </a:solidFill>
              </a:defRPr>
            </a:pPr>
            <a:r>
              <a:rPr sz="1800" b="1">
                <a:solidFill>
                  <a:srgbClr val="2F7D4D"/>
                </a:solidFill>
              </a:rPr>
              <a:t>100分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D0FE6-403C-4D01-B8DF-9EE2AFD5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参数写入、回读或“无需写入”判断具备复核基础。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C33B9-C119-4553-A3D8-1B1FEDE1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E11C2-1BF8-49C2-8230-6AF1C0C3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E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A2A15-E7DE-42F4-B8C9-A8D9A1C0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设计说明书生成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AD725-FA1B-459E-B859-E92A74A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14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6E16"/>
                </a:solidFill>
              </a:defRPr>
            </a:pPr>
            <a:r>
              <a:rPr sz="1800" b="1">
                <a:solidFill>
                  <a:srgbClr val="B66E16"/>
                </a:solidFill>
              </a:rPr>
              <a:t>约95.2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64560-B941-40AE-8409-62674DFE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4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23/23槽位填充，Front/Right/Left/Isometric截图证据齐全。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C6A1DE-5C59-482A-ABED-10B64DE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64F81-1BD8-48F1-80DF-C9D07CC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B9371E-C16D-48DA-A954-13A418D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DFMEA自动编写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7D84C0-C564-43E0-A55F-EF6354BA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23B"/>
                </a:solidFill>
              </a:defRPr>
            </a:pPr>
            <a:r>
              <a:rPr sz="1800" b="1">
                <a:solidFill>
                  <a:srgbClr val="B8423B"/>
                </a:solidFill>
              </a:rPr>
              <a:t>约43.8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03CFA-A79B-49A2-AA07-9CC82F43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2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可生成7项风险及文件证据，但模板覆盖和校验完整度仍需加强。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A14D21-998C-4F33-8650-F83991BB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769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7086"/>
                </a:solidFill>
              </a:defRPr>
            </a:pPr>
            <a:r>
              <a:rPr sz="1275" b="1">
                <a:solidFill>
                  <a:srgbClr val="617086"/>
                </a:solidFill>
              </a:rPr>
              <a:t>阶段判断：关键链路已经具备可演示、可复测基础；外部接口稳定性、TC真实上传覆盖、报告/DFMEA耗时仍需专项跟进。</a:t>
            </a:r>
          </a:p>
        </p:txBody>
      </p:sp>
    </p:spTree>
    <p:extLst>
      <p:ext uri="{BB962C8B-B14F-4D97-AF65-F5344CB8AC3E}">
        <p14:creationId xmlns:p14="http://schemas.microsoft.com/office/powerpoint/2010/main" val="7681469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82863-96D2-4C20-8082-15B876C4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A9A"/>
                </a:solidFill>
              </a:defRPr>
            </a:pPr>
            <a:r>
              <a:rPr sz="1125" b="1">
                <a:solidFill>
                  <a:srgbClr val="0C9A9A"/>
                </a:solidFill>
              </a:rPr>
              <a:t>演示安排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8384F-EDFE-4E82-BC05-C9BF8E4C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033"/>
                </a:solidFill>
              </a:defRPr>
            </a:pPr>
            <a:r>
              <a:rPr sz="2775" b="1">
                <a:solidFill>
                  <a:srgbClr val="142033"/>
                </a:solidFill>
              </a:rPr>
              <a:t>演示内容与后续推进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C3C8E-354E-481D-BE24-225B619B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E69D1-F45E-40BA-B849-07602D4A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零件设计智能体优化工作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57F47-6FE7-4826-B5FF-B74487AF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技术路线重做版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038A3-9FD2-4489-B8DF-4B45E919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9055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A21D8-9D81-4CD0-AA92-FDB1584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演示视频建议证明四件事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C8506-6950-4EA3-BCB4-4F233A4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33E14-2265-4244-9300-9ECF330A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BED16-2BF4-4C93-A7AA-A2F7D032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入口治理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86908-B1F7-4469-9A7F-97517C82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展示智能体如何区分任务、质量计划、变更背景和受控资料。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EACD2-1630-4C78-AEE2-10F4329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87B52-7022-4C92-A39D-601B44A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DA5BB-FB94-4757-AD38-E57EF06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48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模板链路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DA16B-D8C1-48A3-ADFD-84C0423F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展示TC候选、NX打开和WorkPart确认，而不是把候选当结果。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9EE61-66BD-4D0E-9282-41D97272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92BF6-BCC3-4B7B-B48F-E76DC540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15D93-0D78-45AC-8B80-8BD8A8FA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71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门禁控制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9408F-541A-476C-A94F-166B7391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767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展示参数证据、写入计划、用户确认、NX回读和保存证据。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D72A6-282F-4FA7-9313-804FB630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E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EEEBB-B778-48DE-A738-13EEB3E5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7CC5C-A3AB-4085-9AA0-EAA2E6D9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文件交付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8FCA8-82BA-4600-A6C1-5876D76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</a:defRPr>
            </a:pPr>
            <a:r>
              <a:rPr sz="1200" b="0">
                <a:solidFill>
                  <a:srgbClr val="617086"/>
                </a:solidFill>
              </a:rPr>
              <a:t>展示设计说明书、DFMEA、截图、路径、大小和校验信息。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9D954-EE29-4CBD-A0FC-C2998EC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66850"/>
            <a:ext cx="44386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51514-553F-4C01-AC22-8BA0A91F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下一阶段推进重点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79F93-46B9-473B-920C-CE673012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86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D3763-E1F3-4CBA-9E0B-0D189319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外部接口问题单独建账，区分系统稳定性和智能体逻辑问题。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802C5-0E23-42EC-ABF0-253962EE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EE024-B581-44DE-894D-6E96CF80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908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补齐TC上传、复制、覆盖等真实写入场景的端到端验收。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FF443F-0BE4-4823-B733-DBD3BB43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E22FC5-13AB-4F25-B321-1FD91494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814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继续优化说明书和DFMEA长流程响应时间与校验完整度。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A30BF-9B2E-43BF-A0E2-4F1D4B85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27F942-2EA3-4584-AD07-4BC5FA42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94A"/>
                </a:solidFill>
              </a:defRPr>
            </a:pPr>
            <a:r>
              <a:rPr sz="1275" b="0">
                <a:solidFill>
                  <a:srgbClr val="2C394A"/>
                </a:solidFill>
              </a:rPr>
              <a:t>把失败处理闭环常态化，形成版本化复测记录和关闭依据。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0B6859-3B36-4148-B1E2-D00922B0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673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712ABB-3726-4ACC-8349-4CEA91F1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76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5A96"/>
                </a:solidFill>
              </a:defRPr>
            </a:pPr>
            <a:r>
              <a:rPr sz="1425" b="1">
                <a:solidFill>
                  <a:srgbClr val="215A96"/>
                </a:solidFill>
              </a:rPr>
              <a:t>汇报落点：本轮工作证明了方法正确，效果可量化，后续改进有抓手。</a:t>
            </a:r>
          </a:p>
        </p:txBody>
      </p:sp>
    </p:spTree>
    <p:extLst>
      <p:ext uri="{BB962C8B-B14F-4D97-AF65-F5344CB8AC3E}">
        <p14:creationId xmlns:p14="http://schemas.microsoft.com/office/powerpoint/2010/main" val="513474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2026-06-25T19:06:53.7090000Z</dcterms:created>
  <dcterms:modified xsi:type="dcterms:W3CDTF">2026-06-25T19:06:53.7090000Z</dcterms:modified>
</coreProperties>
</file>