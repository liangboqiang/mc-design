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19547488e04a44" /><Relationship Type="http://schemas.openxmlformats.org/officeDocument/2006/relationships/extended-properties" Target="/docProps/app.xml" Id="Raa714a8d921f4a2f" /><Relationship Type="http://schemas.openxmlformats.org/officeDocument/2006/relationships/officeDocument" Target="/ppt/presentation.xml" Id="R0995d5d1809c47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8ec89205b4ad2"/>
  </p:sldMasterIdLst>
  <p:notesMasterIdLst>
    <p:notesMasterId xmlns:r="http://schemas.openxmlformats.org/officeDocument/2006/relationships" r:id="R520927c7430148d7"/>
  </p:notesMasterIdLst>
  <p:sldIdLst>
    <p:sldId xmlns:r="http://schemas.openxmlformats.org/officeDocument/2006/relationships" id="256" r:id="R0dbefb0743864ce8"/>
    <p:sldId xmlns:r="http://schemas.openxmlformats.org/officeDocument/2006/relationships" id="257" r:id="Rb2488a60f30c401f"/>
    <p:sldId xmlns:r="http://schemas.openxmlformats.org/officeDocument/2006/relationships" id="258" r:id="Rff15aa6edae34e50"/>
    <p:sldId xmlns:r="http://schemas.openxmlformats.org/officeDocument/2006/relationships" id="259" r:id="R2ca2360d082d43e0"/>
    <p:sldId xmlns:r="http://schemas.openxmlformats.org/officeDocument/2006/relationships" id="260" r:id="R39b970c293064482"/>
    <p:sldId xmlns:r="http://schemas.openxmlformats.org/officeDocument/2006/relationships" id="261" r:id="R1263b50d9bba486d"/>
    <p:sldId xmlns:r="http://schemas.openxmlformats.org/officeDocument/2006/relationships" id="262" r:id="Re69c49bc918b4036"/>
    <p:sldId xmlns:r="http://schemas.openxmlformats.org/officeDocument/2006/relationships" id="263" r:id="Rf53082beef8f44f5"/>
    <p:sldId xmlns:r="http://schemas.openxmlformats.org/officeDocument/2006/relationships" id="264" r:id="Rc5d377440476489b"/>
    <p:sldId xmlns:r="http://schemas.openxmlformats.org/officeDocument/2006/relationships" id="265" r:id="R42e39e2e74af4b86"/>
    <p:sldId xmlns:r="http://schemas.openxmlformats.org/officeDocument/2006/relationships" id="266" r:id="Rb6078ad85a884e9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49aea6d103412f" /><Relationship Type="http://schemas.openxmlformats.org/officeDocument/2006/relationships/slideMaster" Target="/ppt/slideMasters/slideMaster1.xml" Id="R04a8ec89205b4ad2" /><Relationship Type="http://schemas.openxmlformats.org/officeDocument/2006/relationships/notesMaster" Target="/ppt/notesMasters/notesMaster1.xml" Id="R520927c7430148d7" /><Relationship Type="http://schemas.openxmlformats.org/officeDocument/2006/relationships/presProps" Target="/ppt/presProps.xml" Id="Re6bf5023095e4a18" /><Relationship Type="http://schemas.openxmlformats.org/officeDocument/2006/relationships/tableStyles" Target="/ppt/tableStyles.xml" Id="R4692ec45c3ac4ee6" /><Relationship Type="http://schemas.openxmlformats.org/officeDocument/2006/relationships/slide" Target="/ppt/slides/slide1.xml" Id="R0dbefb0743864ce8" /><Relationship Type="http://schemas.openxmlformats.org/officeDocument/2006/relationships/slide" Target="/ppt/slides/slide2.xml" Id="Rb2488a60f30c401f" /><Relationship Type="http://schemas.openxmlformats.org/officeDocument/2006/relationships/slide" Target="/ppt/slides/slide3.xml" Id="Rff15aa6edae34e50" /><Relationship Type="http://schemas.openxmlformats.org/officeDocument/2006/relationships/slide" Target="/ppt/slides/slide4.xml" Id="R2ca2360d082d43e0" /><Relationship Type="http://schemas.openxmlformats.org/officeDocument/2006/relationships/slide" Target="/ppt/slides/slide5.xml" Id="R39b970c293064482" /><Relationship Type="http://schemas.openxmlformats.org/officeDocument/2006/relationships/slide" Target="/ppt/slides/slide6.xml" Id="R1263b50d9bba486d" /><Relationship Type="http://schemas.openxmlformats.org/officeDocument/2006/relationships/slide" Target="/ppt/slides/slide7.xml" Id="Re69c49bc918b4036" /><Relationship Type="http://schemas.openxmlformats.org/officeDocument/2006/relationships/slide" Target="/ppt/slides/slide8.xml" Id="Rf53082beef8f44f5" /><Relationship Type="http://schemas.openxmlformats.org/officeDocument/2006/relationships/slide" Target="/ppt/slides/slide9.xml" Id="Rc5d377440476489b" /><Relationship Type="http://schemas.openxmlformats.org/officeDocument/2006/relationships/slide" Target="/ppt/slides/slide10.xml" Id="R42e39e2e74af4b86" /><Relationship Type="http://schemas.openxmlformats.org/officeDocument/2006/relationships/slide" Target="/ppt/slides/slide11.xml" Id="Rb6078ad85a884e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e00b796f0c4a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b532600d3a48e6" /><Relationship Type="http://schemas.openxmlformats.org/officeDocument/2006/relationships/notesMaster" Target="/ppt/notesMasters/notesMaster1.xml" Id="Rdb0ebb80e1a447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2f867a1e2b4750" /><Relationship Type="http://schemas.openxmlformats.org/officeDocument/2006/relationships/notesMaster" Target="/ppt/notesMasters/notesMaster1.xml" Id="R2058e5949a8f41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6642558cf94298" /><Relationship Type="http://schemas.openxmlformats.org/officeDocument/2006/relationships/notesMaster" Target="/ppt/notesMasters/notesMaster1.xml" Id="R97ba1725a33f4e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5e8591cfe340bf" /><Relationship Type="http://schemas.openxmlformats.org/officeDocument/2006/relationships/notesMaster" Target="/ppt/notesMasters/notesMaster1.xml" Id="R22bfc5a0736d43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ac40b3398942d2" /><Relationship Type="http://schemas.openxmlformats.org/officeDocument/2006/relationships/notesMaster" Target="/ppt/notesMasters/notesMaster1.xml" Id="Re3557afd1f7247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b631a98ec34f29" /><Relationship Type="http://schemas.openxmlformats.org/officeDocument/2006/relationships/notesMaster" Target="/ppt/notesMasters/notesMaster1.xml" Id="R6f41a308293044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4c4438fe104ce1" /><Relationship Type="http://schemas.openxmlformats.org/officeDocument/2006/relationships/notesMaster" Target="/ppt/notesMasters/notesMaster1.xml" Id="Rcf592a61122044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f8ff1c83d8417c" /><Relationship Type="http://schemas.openxmlformats.org/officeDocument/2006/relationships/notesMaster" Target="/ppt/notesMasters/notesMaster1.xml" Id="R7fc0c3ebd68f43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71485c552946ea" /><Relationship Type="http://schemas.openxmlformats.org/officeDocument/2006/relationships/notesMaster" Target="/ppt/notesMasters/notesMaster1.xml" Id="R41f2e72ef88d49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6b8dbd36b846dc" /><Relationship Type="http://schemas.openxmlformats.org/officeDocument/2006/relationships/notesMaster" Target="/ppt/notesMasters/notesMaster1.xml" Id="Rcb9ed0a7afac4f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aeacadee764d63" /><Relationship Type="http://schemas.openxmlformats.org/officeDocument/2006/relationships/notesMaster" Target="/ppt/notesMasters/notesMaster1.xml" Id="Rb0789161e95048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64918f080247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ce30c8e0334d55" /><Relationship Type="http://schemas.openxmlformats.org/officeDocument/2006/relationships/slideLayout" Target="/ppt/slideLayouts/slideLayout1.xml" Id="R7296681466d148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96681466d148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1d505b75c435d" /><Relationship Type="http://schemas.openxmlformats.org/officeDocument/2006/relationships/image" Target="/ppt/media/image.png" Id="R8d46def4eac64048" /><Relationship Type="http://schemas.openxmlformats.org/officeDocument/2006/relationships/notesSlide" Target="/ppt/notesSlides/notesSlide1.xml" Id="R0e3873973f9c4b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2e537eab64df7" /><Relationship Type="http://schemas.openxmlformats.org/officeDocument/2006/relationships/notesSlide" Target="/ppt/notesSlides/notesSlide2.xml" Id="Re8ee7994b82f41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72a09a5e74168" /><Relationship Type="http://schemas.openxmlformats.org/officeDocument/2006/relationships/notesSlide" Target="/ppt/notesSlides/notesSlide3.xml" Id="R25828fd7a5d446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bce17006a4404" /><Relationship Type="http://schemas.openxmlformats.org/officeDocument/2006/relationships/notesSlide" Target="/ppt/notesSlides/notesSlide4.xml" Id="R9280984c1e884e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c8327d10d4fce" /><Relationship Type="http://schemas.openxmlformats.org/officeDocument/2006/relationships/notesSlide" Target="/ppt/notesSlides/notesSlide5.xml" Id="R807a23ccce7b4d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c5a2c5a4d4cdc" /><Relationship Type="http://schemas.openxmlformats.org/officeDocument/2006/relationships/notesSlide" Target="/ppt/notesSlides/notesSlide6.xml" Id="Rf5702417acf94f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1b8128b3d48a5" /><Relationship Type="http://schemas.openxmlformats.org/officeDocument/2006/relationships/notesSlide" Target="/ppt/notesSlides/notesSlide7.xml" Id="Rdbf4f483bac446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437e02b28746fa" /><Relationship Type="http://schemas.openxmlformats.org/officeDocument/2006/relationships/notesSlide" Target="/ppt/notesSlides/notesSlide8.xml" Id="Rf2a22eb344cb41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6347296424320" /><Relationship Type="http://schemas.openxmlformats.org/officeDocument/2006/relationships/notesSlide" Target="/ppt/notesSlides/notesSlide9.xml" Id="Rf9aadead724d4a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000d5118742ba" /><Relationship Type="http://schemas.openxmlformats.org/officeDocument/2006/relationships/notesSlide" Target="/ppt/notesSlides/notesSlide10.xml" Id="Rc994a853593749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53769b20a4e8c" /><Relationship Type="http://schemas.openxmlformats.org/officeDocument/2006/relationships/notesSlide" Target="/ppt/notesSlides/notesSlide11.xml" Id="R9a43ea8571ce40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6def4eac64048"/>
          <a:srcRect xmlns:a="http://schemas.openxmlformats.org/drawingml/2006/main" l="22726" t="0" r="227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742950"/>
            <a:ext cx="4800600" cy="4953000"/>
          </a:xfrm>
          <a:prstGeom xmlns:a="http://schemas.openxmlformats.org/drawingml/2006/main" prst="roundRect">
            <a:avLst>
              <a:gd name="adj" fmla="val 2381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5A192-01FD-4067-9564-888A2CFD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6098D-0290-40A6-AD2C-01D75D09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0015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32033"/>
                </a:solidFill>
              </a:defRPr>
            </a:pPr>
            <a:r>
              <a:rPr sz="4050" b="1">
                <a:solidFill>
                  <a:srgbClr val="132033"/>
                </a:solidFill>
              </a:rPr>
              <a:t>零件设计智能体优化工作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4AA51-F04C-49C0-960B-EA88E318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240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15A96"/>
                </a:solidFill>
              </a:defRPr>
            </a:pPr>
            <a:r>
              <a:rPr sz="3750" b="1">
                <a:solidFill>
                  <a:srgbClr val="215A96"/>
                </a:solidFill>
              </a:rPr>
              <a:t>技术汇报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DF9AB-EDC0-4BC7-BD72-EDD1D7F3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3A4B"/>
                </a:solidFill>
              </a:defRPr>
            </a:pPr>
            <a:r>
              <a:rPr sz="1575" b="0">
                <a:solidFill>
                  <a:srgbClr val="2D3A4B"/>
                </a:solidFill>
              </a:rPr>
              <a:t>严格按623执行安排逐项组织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1F552-B9C3-4EA4-85A2-E7E7B0C1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48958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78876-C634-44A7-AFA6-9E521520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672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</a:defRPr>
            </a:pPr>
            <a:r>
              <a:rPr sz="1350" b="1">
                <a:solidFill>
                  <a:srgbClr val="132033"/>
                </a:solidFill>
              </a:rPr>
              <a:t>汇报口径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9FCE1-3E5C-4FCF-82F4-9975D33B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287"/>
                </a:solidFill>
              </a:defRPr>
            </a:pPr>
            <a:r>
              <a:rPr sz="1275" b="0">
                <a:solidFill>
                  <a:srgbClr val="637287"/>
                </a:solidFill>
              </a:rPr>
              <a:t>先按七条执行安排逐项说明工作方法和工作量，最后集中呈现阶段结果和演示内容。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842A3-1811-40FD-B4EC-FEB0385B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076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37287"/>
                </a:solidFill>
              </a:defRPr>
            </a:pPr>
            <a:r>
              <a:rPr sz="1350" b="1">
                <a:solidFill>
                  <a:srgbClr val="637287"/>
                </a:solidFill>
              </a:rPr>
              <a:t>2026.06</a:t>
            </a:r>
          </a:p>
        </p:txBody>
      </p:sp>
    </p:spTree>
    <p:extLst>
      <p:ext uri="{BB962C8B-B14F-4D97-AF65-F5344CB8AC3E}">
        <p14:creationId xmlns:p14="http://schemas.microsoft.com/office/powerpoint/2010/main" val="1141006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D3D984-75CF-47D2-B61A-BDA3086F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9E9E"/>
                </a:solidFill>
              </a:defRPr>
            </a:pPr>
            <a:r>
              <a:rPr sz="1125" b="1">
                <a:solidFill>
                  <a:srgbClr val="079E9E"/>
                </a:solidFill>
              </a:rPr>
              <a:t>总体结构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7188A-6164-4917-B94E-3D56B9BA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033"/>
                </a:solidFill>
              </a:defRPr>
            </a:pPr>
            <a:r>
              <a:rPr sz="2700" b="1">
                <a:solidFill>
                  <a:srgbClr val="132033"/>
                </a:solidFill>
              </a:rPr>
              <a:t>623大纲的推进思路：七条工作线逐项闭环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9DDAB-BC7F-4E6B-B9B1-58732773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895C1-039F-4BB5-986A-FC694A94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零件设计智能体优化工作  |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C2745-B0C2-4E55-A1C3-7F1BDCD8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严格按623执行安排版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0F410-7E08-4B56-BE19-F6FE37F5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287"/>
                </a:solidFill>
              </a:defRPr>
            </a:pPr>
            <a:r>
              <a:rPr sz="1425" b="0">
                <a:solidFill>
                  <a:srgbClr val="637287"/>
                </a:solidFill>
              </a:rPr>
              <a:t>623安排的核心不是先讲效果，而是先把智能体优化所需的基础材料、业务示例、测试口径、用户交付、软件拆解和持续改进机制按顺序建起来。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A7733-A72C-4C4F-84C8-9562434A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10248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AF242-47E7-4E40-ABD9-E075BF37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序号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B0E3D-BDFC-4461-88EB-E4E12E14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5740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623执行安排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CC0B6-51E8-48DE-8D7E-D3B22DE6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本次汇报按该安排说明的重点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F4A60-BAAF-49FA-8E2D-841BC708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86025"/>
            <a:ext cx="10248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6D7FA-29A8-4B1E-B754-5950769C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</a:defRPr>
            </a:pPr>
            <a:r>
              <a:rPr sz="1125" b="1">
                <a:solidFill>
                  <a:srgbClr val="13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4D0E7-7699-494E-97A5-4A0B6999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8602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D421A8-40AF-4914-B74A-1FB1634F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3A4B"/>
                </a:solidFill>
              </a:defRPr>
            </a:pPr>
            <a:r>
              <a:rPr sz="1125" b="0">
                <a:solidFill>
                  <a:srgbClr val="2D3A4B"/>
                </a:solidFill>
              </a:rPr>
              <a:t>四大系统接口源码分析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422F2-F754-47D0-A466-A859BB6D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8602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C10D2-F1F4-4533-96E5-67C816EA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3A4B"/>
                </a:solidFill>
              </a:defRPr>
            </a:pPr>
            <a:r>
              <a:rPr sz="1125" b="0">
                <a:solidFill>
                  <a:srgbClr val="2D3A4B"/>
                </a:solidFill>
              </a:rPr>
              <a:t>弄清IPM/QPP/ECMS/TC能提供什么、字段怎么填、填错有什么影响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8062E4-7ECC-4CB9-BC7A-90FF1C62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248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6A1EA6-F557-45FB-B4C9-BAAC288C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</a:defRPr>
            </a:pPr>
            <a:r>
              <a:rPr sz="1125" b="1">
                <a:solidFill>
                  <a:srgbClr val="132033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E32587-4147-46E8-86F8-E58F5457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09900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FE3555-F1DF-42AC-BF87-E98F0C86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95625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3A4B"/>
                </a:solidFill>
              </a:defRPr>
            </a:pPr>
            <a:r>
              <a:rPr sz="1125" b="0">
                <a:solidFill>
                  <a:srgbClr val="2D3A4B"/>
                </a:solidFill>
              </a:rPr>
              <a:t>四大系统接口模块说明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DCA568-EBFF-4183-8106-836793B3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09900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5E5DB1-702B-48AB-B077-19B57360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95625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3A4B"/>
                </a:solidFill>
              </a:defRPr>
            </a:pPr>
            <a:r>
              <a:rPr sz="1125" b="0">
                <a:solidFill>
                  <a:srgbClr val="2D3A4B"/>
                </a:solidFill>
              </a:rPr>
              <a:t>把接口能力写成可被智能体引用的工具说明和模块说明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7E77D9-FBD6-46A9-988F-D2A5CE02E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10248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A839F-0063-4295-9A9D-66994666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</a:defRPr>
            </a:pPr>
            <a:r>
              <a:rPr sz="1125" b="1">
                <a:solidFill>
                  <a:srgbClr val="13203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C79A45-56D4-4C00-8064-C424210F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3377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3F2E42-EBE8-4F89-85FC-3BDF673B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3A4B"/>
                </a:solidFill>
              </a:defRPr>
            </a:pPr>
            <a:r>
              <a:rPr sz="1125" b="0">
                <a:solidFill>
                  <a:srgbClr val="2D3A4B"/>
                </a:solidFill>
              </a:rPr>
              <a:t>业务专家操作示例集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E905D5-E598-46D0-9D54-BB2A9CD0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3377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F617B8-8A38-4B94-9690-440194FD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19500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3A4B"/>
                </a:solidFill>
              </a:defRPr>
            </a:pPr>
            <a:r>
              <a:rPr sz="1125" b="0">
                <a:solidFill>
                  <a:srgbClr val="2D3A4B"/>
                </a:solidFill>
              </a:rPr>
              <a:t>把专家真实工作过程转成可训练、可复盘的操作示例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CFC069-9509-4E8D-B3DA-1498EFB3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10248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A9488B-CB98-42BA-8446-74FF47B5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</a:defRPr>
            </a:pPr>
            <a:r>
              <a:rPr sz="1125" b="1">
                <a:solidFill>
                  <a:srgbClr val="132033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22D102-75F6-4662-BF68-56D80D23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57650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B7E992-78D2-4035-A9FE-A20E64F0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3A4B"/>
                </a:solidFill>
              </a:defRPr>
            </a:pPr>
            <a:r>
              <a:rPr sz="1125" b="0">
                <a:solidFill>
                  <a:srgbClr val="2D3A4B"/>
                </a:solidFill>
              </a:rPr>
              <a:t>测试案例集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0E4AAF-FA54-45FC-9D08-20719F0A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57650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D544DB-89CB-43B1-BD21-C90333E8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43375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3A4B"/>
                </a:solidFill>
              </a:defRPr>
            </a:pPr>
            <a:r>
              <a:rPr sz="1125" b="0">
                <a:solidFill>
                  <a:srgbClr val="2D3A4B"/>
                </a:solidFill>
              </a:rPr>
              <a:t>用输入、期望输出、允许偏差建立客观评价标准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A6D1D2-5819-4274-BA5E-9F7FA7B1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81525"/>
            <a:ext cx="10248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7B55F8-6D49-4EEF-ACB3-3423312E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</a:defRPr>
            </a:pPr>
            <a:r>
              <a:rPr sz="1125" b="1">
                <a:solidFill>
                  <a:srgbClr val="132033"/>
                </a:solidFill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76CA5E-16D5-43FF-B113-DE056787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8152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794828-6AFE-460C-B8CC-4A095891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3A4B"/>
                </a:solidFill>
              </a:defRPr>
            </a:pPr>
            <a:r>
              <a:rPr sz="1125" b="0">
                <a:solidFill>
                  <a:srgbClr val="2D3A4B"/>
                </a:solidFill>
              </a:rPr>
              <a:t>用户使用说明书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BA2DF1-F43C-4CC0-9B35-A539E8D4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8152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7920C8-4AD5-4BEC-B17D-F7877AED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67250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3A4B"/>
                </a:solidFill>
              </a:defRPr>
            </a:pPr>
            <a:r>
              <a:rPr sz="1125" b="0">
                <a:solidFill>
                  <a:srgbClr val="2D3A4B"/>
                </a:solidFill>
              </a:rPr>
              <a:t>从业务用户视角说明怎么问、怎么输入、出错怎么处理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432FFE-44CF-4472-B106-13C3842F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10248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E2A10D-FACA-4072-8377-343131E5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</a:defRPr>
            </a:pPr>
            <a:r>
              <a:rPr sz="1125" b="1">
                <a:solidFill>
                  <a:srgbClr val="132033"/>
                </a:solidFill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FEF36D-5E43-44F0-92BF-0DBCEBB6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ED0AF5-57EA-4597-AA7A-E7AFF3FB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91125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3A4B"/>
                </a:solidFill>
              </a:defRPr>
            </a:pPr>
            <a:r>
              <a:rPr sz="1125" b="0">
                <a:solidFill>
                  <a:srgbClr val="2D3A4B"/>
                </a:solidFill>
              </a:rPr>
              <a:t>智能体模块化拆解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D6BD0C-058F-480E-BCBE-7A1A0C7E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05400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20E510-F75B-42A5-A334-8291D938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91125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3A4B"/>
                </a:solidFill>
              </a:defRPr>
            </a:pPr>
            <a:r>
              <a:rPr sz="1125" b="0">
                <a:solidFill>
                  <a:srgbClr val="2D3A4B"/>
                </a:solidFill>
              </a:rPr>
              <a:t>拆成7个独立智能体，便于测试、优化和复用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8C1F9A-C37D-4520-B1BB-EEE6E9C8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29275"/>
            <a:ext cx="102489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BC4D55-EB03-4B60-9117-78FDFA04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476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</a:defRPr>
            </a:pPr>
            <a:r>
              <a:rPr sz="1125" b="1">
                <a:solidFill>
                  <a:srgbClr val="132033"/>
                </a:solidFill>
              </a:rPr>
              <a:t>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A328B7-F66B-4F9D-AD3A-3B667EA9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2927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945B0C-B1EC-4C3F-B0B2-9E90E74F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3A4B"/>
                </a:solidFill>
              </a:defRPr>
            </a:pPr>
            <a:r>
              <a:rPr sz="1125" b="0">
                <a:solidFill>
                  <a:srgbClr val="2D3A4B"/>
                </a:solidFill>
              </a:rPr>
              <a:t>持续改进操作说明书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21C94A-6AFA-4C1F-B2F5-A852712A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629275"/>
            <a:ext cx="95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852139-07EB-447C-A89A-D91FFB1C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715000"/>
            <a:ext cx="647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D3A4B"/>
                </a:solidFill>
              </a:defRPr>
            </a:pPr>
            <a:r>
              <a:rPr sz="1125" b="0">
                <a:solidFill>
                  <a:srgbClr val="2D3A4B"/>
                </a:solidFill>
              </a:rPr>
              <a:t>把错误处理、修订、复测和关闭固化为后续工作方法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E1B509-5D27-49FD-92F1-943B9F84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0579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5A96"/>
                </a:solidFill>
              </a:defRPr>
            </a:pPr>
            <a:r>
              <a:rPr sz="1350" b="1">
                <a:solidFill>
                  <a:srgbClr val="215A96"/>
                </a:solidFill>
              </a:rPr>
              <a:t>阶段结果与演示内容集中放在最后两页，不插入到前面的工作安排页。</a:t>
            </a:r>
          </a:p>
        </p:txBody>
      </p:sp>
    </p:spTree>
    <p:extLst>
      <p:ext uri="{BB962C8B-B14F-4D97-AF65-F5344CB8AC3E}">
        <p14:creationId xmlns:p14="http://schemas.microsoft.com/office/powerpoint/2010/main" val="12806982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B51EE5-4B62-4830-87D1-33EDBC74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9E9E"/>
                </a:solidFill>
              </a:defRPr>
            </a:pPr>
            <a:r>
              <a:rPr sz="1125" b="1">
                <a:solidFill>
                  <a:srgbClr val="079E9E"/>
                </a:solidFill>
              </a:rPr>
              <a:t>623执行安排逐项汇报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AE420-EC92-4B49-AB2B-218C2A5C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033"/>
                </a:solidFill>
              </a:defRPr>
            </a:pPr>
            <a:r>
              <a:rPr sz="2700" b="1">
                <a:solidFill>
                  <a:srgbClr val="132033"/>
                </a:solidFill>
              </a:rPr>
              <a:t>工作线一：四大系统接口源码分析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47A23-C22E-4505-A6A0-7C13A5FF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DAE14-6B40-4A11-92E6-F0F700D2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零件设计智能体优化工作  |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8AE4B-D0ED-4933-AB75-ADB856EA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严格按623执行安排版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478BF-6539-487C-894C-F48CFB0B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019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7C38E-9D85-4AE2-AD0F-5DF68FB1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19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牵头：博强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64F52-82AD-439D-90E5-C55F5371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90650"/>
            <a:ext cx="815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287"/>
                </a:solidFill>
              </a:defRPr>
            </a:pPr>
            <a:r>
              <a:rPr sz="1350" b="0">
                <a:solidFill>
                  <a:srgbClr val="637287"/>
                </a:solidFill>
              </a:rPr>
              <a:t>623要求：使用开发平台分析IPM、QPP、ECMS/TC等接口源码，梳理工具能力、接口能力、入参出参，以及字段正确或错误填写对结果的影响。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B44CD-E763-42CE-8264-A6A11FD0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911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6CB66-F831-4422-A7DA-4D6CAD26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0A49C-CD26-429F-9F3B-4E328D5F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</a:defRPr>
            </a:pPr>
            <a:r>
              <a:rPr sz="1725" b="1">
                <a:solidFill>
                  <a:srgbClr val="132033"/>
                </a:solidFill>
              </a:rPr>
              <a:t>按照623要求，我们实际这样做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0A274-A05E-4D6B-8BFA-79F51930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D0EB13-BCA2-4CC3-91D7-5DDCC97A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按业务流程确认四大系统定位：IPM管任务，QPP管质量计划，ECMS/ECR管变更，TC管受控资料。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7ABEC-6B09-482F-8809-5DA311BD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49825-3A19-4DC2-81F3-576ED70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逐项梳理查询类、写入类、上传类动作的输入条件、返回字段和失败风险。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08F5C-A96D-4D17-8E0D-E6149D58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EA801A-7CAF-47F1-BBE2-5318EE54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把“查到候选”和“已确认对象”区分开，防止智能体把中间结果当作最终结果。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7F79F-48C2-4AA7-972E-C48E4798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E76C9-DEBF-41A5-84E1-C269DD84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624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把外部系统异常与智能体逻辑问题分开记录，便于后续改进归因。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F7A13-CC9D-4B71-AEB5-0542C576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546735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63B382-546E-4F48-9597-3B4F77C8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10BAD7-9E32-4FEB-A28B-601489AE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</a:defRPr>
            </a:pPr>
            <a:r>
              <a:rPr sz="1725" b="1">
                <a:solidFill>
                  <a:srgbClr val="132033"/>
                </a:solidFill>
              </a:rPr>
              <a:t>形成的产出和工作量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BC6819-0508-4B09-8934-3013B8DE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229BB9-408D-459B-A4B2-D788B66D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908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形成《四大系统接口分析报告》。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DC8DB4-7CB5-4ED4-B825-1B5E16C7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B9B484-F86C-4817-A45A-D95BD28F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480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形成《智能体调用工具持续改进方案》。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F2B129-C0BF-41CE-974F-36276D4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E0EABE-AE25-4BA5-BA9E-F7B32F49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形成接口改进阶段性成效报告口径。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3E367C-58DB-4DBD-9BDA-A74957D3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E8B88E-2F36-4526-8E7F-1B13CA16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624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建立入口判断、字段规则、状态确认和写入风险控制依据。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AEDC21-FF2C-41E6-8505-0E2C9860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9906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1C1F98-EAB2-4173-8B5D-B60CE7AE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959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这一线工作解决“智能体为什么会查错系统、填错字段、误判状态”的根因问题。</a:t>
            </a:r>
          </a:p>
        </p:txBody>
      </p:sp>
    </p:spTree>
    <p:extLst>
      <p:ext uri="{BB962C8B-B14F-4D97-AF65-F5344CB8AC3E}">
        <p14:creationId xmlns:p14="http://schemas.microsoft.com/office/powerpoint/2010/main" val="20921352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6CBB4C-20B6-4AC5-9B84-00E5A9DF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9E9E"/>
                </a:solidFill>
              </a:defRPr>
            </a:pPr>
            <a:r>
              <a:rPr sz="1125" b="1">
                <a:solidFill>
                  <a:srgbClr val="079E9E"/>
                </a:solidFill>
              </a:rPr>
              <a:t>623执行安排逐项汇报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DE5A5-B083-4135-9301-5DAF2DBA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033"/>
                </a:solidFill>
              </a:defRPr>
            </a:pPr>
            <a:r>
              <a:rPr sz="2700" b="1">
                <a:solidFill>
                  <a:srgbClr val="132033"/>
                </a:solidFill>
              </a:rPr>
              <a:t>工作线二：四大系统接口模块说明文档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99615-6516-4CA6-A74D-92B61012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AD3EF-665B-418A-9276-4AEE0EAB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零件设计智能体优化工作  |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9784D-F0EF-4DBA-B3AF-A593C823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严格按623执行安排版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DF311-66D7-46EE-820A-14747ED6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019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03537-68E2-41EF-B15D-35F744D0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19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牵头：明芮，其他人协助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644FB-AE98-4B08-8FD1-625D1DF2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90650"/>
            <a:ext cx="815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287"/>
                </a:solidFill>
              </a:defRPr>
            </a:pPr>
            <a:r>
              <a:rPr sz="1350" b="0">
                <a:solidFill>
                  <a:srgbClr val="637287"/>
                </a:solidFill>
              </a:rPr>
              <a:t>623要求：参照接口描述文档模板填写四大系统接口模块说明，作为智能体调用工具改进方案和效果报告的依据。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1C75A-C44D-4CB2-B8F0-04AEB264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911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E60CD-9869-495B-B262-39789F98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4B46A-0D71-44BE-A96E-670A54C7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</a:defRPr>
            </a:pPr>
            <a:r>
              <a:rPr sz="1725" b="1">
                <a:solidFill>
                  <a:srgbClr val="132033"/>
                </a:solidFill>
              </a:rPr>
              <a:t>按照623要求，我们实际这样做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5A27B3-73BB-4B01-93E3-FC7EAC8A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6C8A1-E38A-4B0E-A184-7AE1A8D4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按统一模板整理工具用途、适用场景、关键入参、返回字段和调用注意事项。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7215FC-236F-41FF-8EA1-E46C068A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7FE78-CDCB-4E9C-BE7A-BA23727B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把系统接口能力从开发人员知识转成智能体可引用的模块说明。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8FBFA-5BCE-4BD4-95CE-DEA70A95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04A72-8053-48B0-9E32-0D255235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重点补齐TC查询、上传、导出下载等容易产生副作用或候选误判的工具说明。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17C03-AB02-486F-8CE7-C1A1BFF3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5E9C7-49F4-4FD1-A2F6-59CAF1FC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624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将接口说明反向用于提示词、Skill流程和工具调用边界修订。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F16BC-1F54-4F00-90A7-E90AA61F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546735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51318E-98F2-43F7-B1E4-511CC51B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63479-1D98-4E6E-B924-C4710C29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</a:defRPr>
            </a:pPr>
            <a:r>
              <a:rPr sz="1725" b="1">
                <a:solidFill>
                  <a:srgbClr val="132033"/>
                </a:solidFill>
              </a:rPr>
              <a:t>形成的产出和工作量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11A564-8373-44C9-A87F-23E47EAE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767952-ADA5-46CF-BD88-79CF3089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908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完成IPM、QPP、ECMS及TC查询、上传、导出下载等7份工具说明书。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2626A1-ED33-4B1D-A9C7-F2B000DE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84BD63-F229-4AD4-B014-029055BA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480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工具说明累计覆盖用途、字段、返回结果、错误影响和操作注意事项。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42CD35-19B9-4E38-8F55-D189BE8C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EFD4C4-1E45-484B-8DCF-189801E9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为后续工具调用改进方案、模块说明引用效果报告提供资料基础。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BE674C-5668-4C6B-950A-7AEB8782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BF0B62-7AA7-4724-886D-5CC5638B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624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支撑智能体从“猜工具”转为“按说明调用工具”。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4364F0-B2C6-42B9-8656-64B03AFA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9906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5C92B6-F843-41E6-8FD4-39062F23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959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这一线工作把接口分析落到可引用的文档资产，是后续智能体规则化调用的基础。</a:t>
            </a:r>
          </a:p>
        </p:txBody>
      </p:sp>
    </p:spTree>
    <p:extLst>
      <p:ext uri="{BB962C8B-B14F-4D97-AF65-F5344CB8AC3E}">
        <p14:creationId xmlns:p14="http://schemas.microsoft.com/office/powerpoint/2010/main" val="16747132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DEA1A1-44B5-430C-91AD-83D3F3AE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9E9E"/>
                </a:solidFill>
              </a:defRPr>
            </a:pPr>
            <a:r>
              <a:rPr sz="1125" b="1">
                <a:solidFill>
                  <a:srgbClr val="079E9E"/>
                </a:solidFill>
              </a:rPr>
              <a:t>623执行安排逐项汇报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714AF-83CA-46F7-939C-B4A96821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033"/>
                </a:solidFill>
              </a:defRPr>
            </a:pPr>
            <a:r>
              <a:rPr sz="2700" b="1">
                <a:solidFill>
                  <a:srgbClr val="132033"/>
                </a:solidFill>
              </a:rPr>
              <a:t>工作线三：业务专家操作示例集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1F408-C05F-442C-99BB-6DDA0630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CC8F6-0F56-40D1-858A-CA97F6F2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零件设计智能体优化工作  |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5A31A-81E0-4B90-AF4A-627394CB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严格按623执行安排版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41DD6-4830-493F-B2D2-F03DEDD7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019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F6D70-12B7-449E-AB13-6F85DB30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19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牵头：世豪，其他人协助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F80FD-8408-4F30-8ABD-D43F012A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90650"/>
            <a:ext cx="815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287"/>
                </a:solidFill>
              </a:defRPr>
            </a:pPr>
            <a:r>
              <a:rPr sz="1350" b="0">
                <a:solidFill>
                  <a:srgbClr val="637287"/>
                </a:solidFill>
              </a:rPr>
              <a:t>623要求：请业务专家按照实际工作过程，围绕7个任务分别撰写操作示例，每个任务不少于10个，用于训练和改进智能体效果。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4BD75-F919-4E38-8713-DE964EA4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911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B7A51-2FDB-4F0E-B2B6-4A4B7E4A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11AE30-32D8-48BF-9546-87D5A942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</a:defRPr>
            </a:pPr>
            <a:r>
              <a:rPr sz="1725" b="1">
                <a:solidFill>
                  <a:srgbClr val="132033"/>
                </a:solidFill>
              </a:rPr>
              <a:t>按照623要求，我们实际这样做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688BDA-92C6-4603-A74E-FD838A7F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3671C-DD85-4413-8333-E325FE21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从业务专家的真实操作出发，而不是从工具菜单出发。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C2465-447C-4DDB-BF77-7FE2881D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0F24E-8829-4C47-9FE6-04F4D536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每条示例尽量写清任务背景、输入材料、操作步骤、判断依据和期望输出。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9D43A-D338-4C71-B255-876DA5A7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70EC1-30C7-4045-B272-73B482A8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把业务人员的口头经验转成智能体可学习、可测试、可复盘的样例。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50C0A-74C9-43CD-8B72-7203A7F3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D07BA-8B8F-4D9B-A1A3-5FDD113D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624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将正常样例和异常样例都沉淀下来，支撑后续规则补全。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85F13-76DA-4577-9365-C9AED592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546735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35ED8-4ABA-4861-B194-2D661249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02AD9C-DCF3-4F4A-B85F-1A4B403D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</a:defRPr>
            </a:pPr>
            <a:r>
              <a:rPr sz="1725" b="1">
                <a:solidFill>
                  <a:srgbClr val="132033"/>
                </a:solidFill>
              </a:rPr>
              <a:t>形成的产出和工作量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1D5462-E019-4166-B34A-CDEE66E5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485A0A-2F89-4E9E-9480-388F08CF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908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围绕7个任务组织业务操作示例，目标工作量不少于70条。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482407-B470-4D1F-AC38-74F87D7C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227219-1E7E-4453-A7BA-D4A4232A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480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形成业务测试用例填写材料和示例集基础。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A676B4-94D5-453C-8562-B72F2C71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F7CAA6-3AE9-4151-865F-64C4AFA6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为后续提示词、训练样例、测试样例和异常处理样例提供来源。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48D1D5-47D3-45EB-A2DB-DAEEF329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94368C-9955-47ED-904F-8DFB7BE1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624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由博强、新朝结合示例材料继续形成改进效果分析。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34CD86-D2D2-472D-B5B2-E37582C1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9906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A81CDD-A641-49DF-9867-283201E2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959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这一线工作解决“智能体不了解真实业务操作习惯”的问题，让优化有业务事实依据。</a:t>
            </a:r>
          </a:p>
        </p:txBody>
      </p:sp>
    </p:spTree>
    <p:extLst>
      <p:ext uri="{BB962C8B-B14F-4D97-AF65-F5344CB8AC3E}">
        <p14:creationId xmlns:p14="http://schemas.microsoft.com/office/powerpoint/2010/main" val="18554603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FDAD56-B38D-4920-96BE-7234AE4B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9E9E"/>
                </a:solidFill>
              </a:defRPr>
            </a:pPr>
            <a:r>
              <a:rPr sz="1125" b="1">
                <a:solidFill>
                  <a:srgbClr val="079E9E"/>
                </a:solidFill>
              </a:rPr>
              <a:t>623执行安排逐项汇报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94FD1-3DA3-45E1-82B5-BC761DA6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033"/>
                </a:solidFill>
              </a:defRPr>
            </a:pPr>
            <a:r>
              <a:rPr sz="2700" b="1">
                <a:solidFill>
                  <a:srgbClr val="132033"/>
                </a:solidFill>
              </a:rPr>
              <a:t>工作线四：测试案例集与评价标准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1D56C-1C25-4EE0-A933-3D6942D1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51783-4122-4821-B1C8-58FA3B43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零件设计智能体优化工作  |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D348F-6865-46FA-8B45-9905B3BB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严格按623执行安排版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C59B8-652C-4046-BB0A-079BD8EE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019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B96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4B31B-1B84-4692-B376-B3EAE0AA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19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牵头：新朝，其他人协助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F251D-4C10-40C0-B053-4099615F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90650"/>
            <a:ext cx="815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287"/>
                </a:solidFill>
              </a:defRPr>
            </a:pPr>
            <a:r>
              <a:rPr sz="1350" b="0">
                <a:solidFill>
                  <a:srgbClr val="637287"/>
                </a:solidFill>
              </a:rPr>
              <a:t>623要求：针对7个任务分别撰写测试案例，覆盖主要操作，每个案例包括输入、期望输出和允许偏差，用于客观评估智能体能力。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3EADC-6A62-4C4D-A3D2-4E38E7FC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911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A751F-5CE8-4B74-BB01-69C8B0FE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ED625-A508-4C5A-B94B-26500721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</a:defRPr>
            </a:pPr>
            <a:r>
              <a:rPr sz="1725" b="1">
                <a:solidFill>
                  <a:srgbClr val="132033"/>
                </a:solidFill>
              </a:rPr>
              <a:t>按照623要求，我们实际这样做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D15DE-F090-4D78-9463-6B8317C1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188B90-174B-425A-8F27-BEEE3272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按7个任务建立测试框架，明确每类任务要验证哪些业务能力。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A5654-6FFF-47C7-8CF9-D6F2D3C5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67B5A-324F-4F9A-A22F-52DBAA11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把测试输入、期望输出、允许偏差写清楚，避免只凭主观感受评价效果。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395F2-A9A3-4B44-A5B2-9ADBDA71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93A22A-7E01-48E6-A8C5-A78FF79B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按功能正确性、交互友好性、异常处理、数据一致性、响应时效建立权重。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F7D028-8D09-452C-AB4D-76E982D4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246387-C352-4872-8540-03438C2F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624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通过评测工作台持续记录版本、场景、校验点和测试结果。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CFC679-616D-48B8-AF9F-73B8E326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546735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7E7201-3F0D-4143-9B97-157CC05E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855AD-1960-4E75-A0CB-D0DFC404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</a:defRPr>
            </a:pPr>
            <a:r>
              <a:rPr sz="1725" b="1">
                <a:solidFill>
                  <a:srgbClr val="132033"/>
                </a:solidFill>
              </a:rPr>
              <a:t>形成的产出和工作量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67F408-4CF2-4BD4-946A-6E3E5146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B45B1E-F0E4-4BC7-B465-A318D42F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908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形成23个业务测试案例和评价标准文件。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F70FD7-09F4-474A-B9F2-71D80168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AAAFB9-EE50-4B7A-A09B-F6DBC027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480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评测工作台沉淀7个任务、35个测试场景、134项校验点。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0AC86E-5EDC-4F1F-A2F9-19E8CA0F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9348C5-5DC9-4A57-9BF1-F07B26FE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已记录5个测试版本、58条测试记录，支撑阶段报告和后续验收。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50BAE2-044D-4432-A4A0-E49888BA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D58EEF-50F0-4D79-A01D-E4E6989C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624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评价权重：功能40%、交互20%、异常20%、一致性10%、时效10%。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92326B-5CFB-4225-8666-5B96B16A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9906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B96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7795C1-EC9A-4D96-8C3D-C8974204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959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这一线工作让阶段效果有测试依据，是结果可靠性和项目验收口径的核心支撑。</a:t>
            </a:r>
          </a:p>
        </p:txBody>
      </p:sp>
    </p:spTree>
    <p:extLst>
      <p:ext uri="{BB962C8B-B14F-4D97-AF65-F5344CB8AC3E}">
        <p14:creationId xmlns:p14="http://schemas.microsoft.com/office/powerpoint/2010/main" val="335508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11C297-BB52-42DA-82F6-DE79C8EB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9E9E"/>
                </a:solidFill>
              </a:defRPr>
            </a:pPr>
            <a:r>
              <a:rPr sz="1125" b="1">
                <a:solidFill>
                  <a:srgbClr val="079E9E"/>
                </a:solidFill>
              </a:rPr>
              <a:t>623执行安排逐项汇报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FB44C-0804-440A-9000-6E3DBA2F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033"/>
                </a:solidFill>
              </a:defRPr>
            </a:pPr>
            <a:r>
              <a:rPr sz="2700" b="1">
                <a:solidFill>
                  <a:srgbClr val="132033"/>
                </a:solidFill>
              </a:rPr>
              <a:t>工作线五：用户使用说明书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8CAB7-5745-4C6F-BC42-84E8BA6B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C395D-0133-4EF6-A2BE-04F6103F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零件设计智能体优化工作  | 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88871-B3D9-4FF5-9016-CDBFBCBC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严格按623执行安排版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75A52-5B2E-4FE5-8A6D-3F408D8E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019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48739-D6D6-4D8A-A232-E3E0525B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19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牵头：新朝，其他人协助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F38B8-EAF3-485F-A746-3A8E31BB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90650"/>
            <a:ext cx="815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287"/>
                </a:solidFill>
              </a:defRPr>
            </a:pPr>
            <a:r>
              <a:rPr sz="1350" b="0">
                <a:solidFill>
                  <a:srgbClr val="637287"/>
                </a:solidFill>
              </a:rPr>
              <a:t>623要求：以测试案例集为基础，从用户使用角度编写简洁清晰的说明书，说明功能结构、工作流程、输入要求、运行状态和错误处理。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C17E5-8F23-4149-A18F-5D8AB61E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911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805D5-6440-4807-80D0-75667750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DE3EB-F32E-49B4-9E9E-CADC779A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</a:defRPr>
            </a:pPr>
            <a:r>
              <a:rPr sz="1725" b="1">
                <a:solidFill>
                  <a:srgbClr val="132033"/>
                </a:solidFill>
              </a:rPr>
              <a:t>按照623要求，我们实际这样做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9386FF-44F1-4CFC-9EC0-F9386EB8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C2A8E-B15A-4B56-955A-6690FB50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不从开发实现角度写，而从业务工程师“怎么使用、怎么判断、怎么反馈”出发。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7BABC-6512-4AA3-9AB4-5309FD11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2090E-0FEB-494A-B75C-59FDA16E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围绕7个子任务整理提示词基本格式和输入数据要求。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E74C3-3FD6-4D0E-A58F-EA7C8003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B7B2F4-668B-42D3-A95C-4A51F503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说明不同运行状态、输出状态和错误状态下用户应采取的处理动作。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27F569-6DF9-4487-8DCE-0ACC881F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1CDCA-2AED-458F-8569-D81E79C6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624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把测试案例中的典型输入和异常处理转化为用户可操作说明。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6B84A-FE55-4ED9-B4F0-FD6A8765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546735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BD2446-A74A-4EBD-BD9E-0F1E7AFE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F6E48-19D0-4AC9-8574-FB60A701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</a:defRPr>
            </a:pPr>
            <a:r>
              <a:rPr sz="1725" b="1">
                <a:solidFill>
                  <a:srgbClr val="132033"/>
                </a:solidFill>
              </a:rPr>
              <a:t>形成的产出和工作量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0D3BA-CAF0-4441-B87D-C5F9A98A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E5650D-A017-49CE-BE45-E832F63A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908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形成用户侧说明材料初版。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7C1F23-3DBA-4DD1-9755-B035035E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820996-FC26-41DA-B6C4-6881067C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480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覆盖智能体功能、总体结构、工作流程和基本原理。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2EA3AC-A016-44D3-8038-160735FE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A1E3A3-425B-430D-8A82-9A15BE91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覆盖子任务提示词格式、输入数据要求、状态解释和异常处理建议。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11030F-5943-4AC0-B7D8-853AF1EA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7AC5D7-1A70-44D6-A194-F16ADBB6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624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由世豪审核并以文字形式提出修改意见，形成留存材料。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D9F139-F042-48D8-96F6-3DFD33AC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9906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C3C7A8-7D94-4BB9-B070-DA9978E8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959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这一线工作解决“优化成果如何被业务人员稳定使用”的问题，降低交付后的使用门槛。</a:t>
            </a:r>
          </a:p>
        </p:txBody>
      </p:sp>
    </p:spTree>
    <p:extLst>
      <p:ext uri="{BB962C8B-B14F-4D97-AF65-F5344CB8AC3E}">
        <p14:creationId xmlns:p14="http://schemas.microsoft.com/office/powerpoint/2010/main" val="20491761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0CFC73-FEE6-4DF1-B191-90512C7F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9E9E"/>
                </a:solidFill>
              </a:defRPr>
            </a:pPr>
            <a:r>
              <a:rPr sz="1125" b="1">
                <a:solidFill>
                  <a:srgbClr val="079E9E"/>
                </a:solidFill>
              </a:rPr>
              <a:t>623执行安排逐项汇报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14C6A-BF08-4C70-8AD8-C60C52C0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033"/>
                </a:solidFill>
              </a:defRPr>
            </a:pPr>
            <a:r>
              <a:rPr sz="2700" b="1">
                <a:solidFill>
                  <a:srgbClr val="132033"/>
                </a:solidFill>
              </a:rPr>
              <a:t>工作线六：智能体模块化拆解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C6014-5F8B-4F91-B917-43E7733B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3E507-3B2E-4378-B609-F3650B14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零件设计智能体优化工作  |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FE686-1DCF-4169-AFB8-1B073EE1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严格按623执行安排版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A1505-BF83-44D3-A798-41F1710C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019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B1298-E7DF-4E3B-AC78-FE225060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19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牵头：博强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3EAA0-35D4-4C09-86AB-E24DE9E0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90650"/>
            <a:ext cx="815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287"/>
                </a:solidFill>
              </a:defRPr>
            </a:pPr>
            <a:r>
              <a:rPr sz="1350" b="0">
                <a:solidFill>
                  <a:srgbClr val="637287"/>
                </a:solidFill>
              </a:rPr>
              <a:t>623要求：将零件设计智能体按照7个任务拆解为7个独立智能体，便于针对性测试、迭代优化和其他项目复用。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6D6F1-F8EC-49C6-AA56-DCEE9EC6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911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683ED-06C7-4EA0-85FB-88C6419F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04C58-0450-4997-8A2D-D24D7A8E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</a:defRPr>
            </a:pPr>
            <a:r>
              <a:rPr sz="1725" b="1">
                <a:solidFill>
                  <a:srgbClr val="132033"/>
                </a:solidFill>
              </a:rPr>
              <a:t>按照623要求，我们实际这样做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A6768-6916-41E4-A138-342E235C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6BDEC2-0EB9-4A7B-8BFE-BE3073D2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保留主智能体作为入口，只负责意图理解、任务编排和必要确认。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998F0-6E6C-49BD-BEFC-ECF28EE1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F8DC2-49B5-4660-9C94-9729FA53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按7个任务设置独立子智能体，分别绑定职责边界、工具白名单和禁止事项。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EE7426-BD9E-4ADC-8E78-B274A6EE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2821A-F9DE-466A-A997-75578C40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参数分析智能体只产出证据和写入计划，建模回传智能体只执行已确认计划。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0CA4E-6836-4271-955F-FB0B0D73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6A1A83-1F80-4FAD-9377-8A1082E7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624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通过职责隔离降低越权调用、误写入和跨任务混淆风险。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365D49-153E-4F14-9125-2C453A7A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546735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E7115-38D0-456A-BD78-D191F962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B7A9B0-CEFF-4311-B82C-57B2840B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</a:defRPr>
            </a:pPr>
            <a:r>
              <a:rPr sz="1725" b="1">
                <a:solidFill>
                  <a:srgbClr val="132033"/>
                </a:solidFill>
              </a:rPr>
              <a:t>形成的产出和工作量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9727A8-C9D5-49A3-98F0-82B1B6DF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D49B0F-F363-4234-B9E1-A7656780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908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形成1个主智能体、7个子智能体的软件模型。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0DF00B-36F0-40A3-9528-B76DF82F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89693E-9273-4A8B-8465-9D344159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480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源码中沉淀8个Agent定义、15类Skill流程。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4168E5-5032-4184-8DE3-EE372173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CC1235-BC14-4F38-A16B-E74F2994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形成《零部件设计智能体软件模型架构说明书》。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DD897F-BD0E-4141-9CAD-251A9437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D26970-3A99-4424-B097-063ED7EA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624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形成面向验收的架构图、运行链路和7个子智能体说明。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C190AB-0CA1-425C-925A-59A83BCA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9906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2CFD2C-8334-4EF0-800A-CF9C621D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959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这一线工作让智能体从“大而全”拆成“可测试、可迭代、可复用”的软件模型。</a:t>
            </a:r>
          </a:p>
        </p:txBody>
      </p:sp>
    </p:spTree>
    <p:extLst>
      <p:ext uri="{BB962C8B-B14F-4D97-AF65-F5344CB8AC3E}">
        <p14:creationId xmlns:p14="http://schemas.microsoft.com/office/powerpoint/2010/main" val="3786365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7FB4B4-3D9F-4C7C-8041-F07D824E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9E9E"/>
                </a:solidFill>
              </a:defRPr>
            </a:pPr>
            <a:r>
              <a:rPr sz="1125" b="1">
                <a:solidFill>
                  <a:srgbClr val="079E9E"/>
                </a:solidFill>
              </a:rPr>
              <a:t>623执行安排逐项汇报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100A6-3DA6-431E-8D65-08D255F3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033"/>
                </a:solidFill>
              </a:defRPr>
            </a:pPr>
            <a:r>
              <a:rPr sz="2700" b="1">
                <a:solidFill>
                  <a:srgbClr val="132033"/>
                </a:solidFill>
              </a:rPr>
              <a:t>工作线七：智能体持续改进操作说明书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03CEE-750A-4100-BE16-2CBAB817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2CA240-43B6-471C-BDC1-F6A24A9A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零件设计智能体优化工作  | 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33F41-7C09-445E-939A-774AB01A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严格按623执行安排版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5A866-ECBD-4996-AA14-DC2C8495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019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9DE4A-227B-49F1-869B-1C04AD22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19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牵头：博强，新朝、明芮协助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83E88-14FF-4341-AF32-6FC01EC0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90650"/>
            <a:ext cx="8153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287"/>
                </a:solidFill>
              </a:defRPr>
            </a:pPr>
            <a:r>
              <a:rPr sz="1350" b="0">
                <a:solidFill>
                  <a:srgbClr val="637287"/>
                </a:solidFill>
              </a:rPr>
              <a:t>623要求：针对7个任务，说明后续使用中如何处理错误，如何逐步提高稳定性和正确率，便于工程师自行改进。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24A38-517D-4188-89D7-D285E5E7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911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37183-E854-45B5-ABB3-BA31BA43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CB98F-778C-4BD7-B9D8-9B600A0D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</a:defRPr>
            </a:pPr>
            <a:r>
              <a:rPr sz="1725" b="1">
                <a:solidFill>
                  <a:srgbClr val="132033"/>
                </a:solidFill>
              </a:rPr>
              <a:t>按照623要求，我们实际这样做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7CCA5-19AE-48EB-A802-D6CAC26E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D3CB95-2A66-478D-B9E5-F8B1A709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先从评测工作台定位失败任务、场景、检查点和规则模板。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88624-C4AD-4C47-A288-27189C55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D0ACF-DAF0-436B-8763-0EEBD0B1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再从运行日志提取工具调用链、异常点、输出物路径和环境状态。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DBB0D-9C04-4AF8-A0C4-75831E65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E4945-42B6-47AC-B3B2-179111C2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通过失败归因区分路由错误、证据缺失、模板规则不足、外部系统异常或代码缺陷。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B9426-D440-41D4-8161-A07BCF66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B702E-3698-4912-A80B-114351A2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62450"/>
            <a:ext cx="3790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优先进行无代码修订，再用原失败场景、相邻场景和历史通过场景复测关闭。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3D295-C5C8-4A30-B5D8-D18C9C63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546735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CF0AF2-2689-4746-9087-BDA27632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90750"/>
            <a:ext cx="6667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F030A8-6BFE-4726-B3E0-76C3BAEE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033"/>
                </a:solidFill>
              </a:defRPr>
            </a:pPr>
            <a:r>
              <a:rPr sz="1725" b="1">
                <a:solidFill>
                  <a:srgbClr val="132033"/>
                </a:solidFill>
              </a:rPr>
              <a:t>形成的产出和工作量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CDBB9-D8E9-4873-B578-65CA3D0E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962676-65D3-4B3B-8B05-787A7717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908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形成《零部件设计智能体持续改进操作说明书》。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0A1F8-B7E4-4F67-A58B-A3F1AAD4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9BF957-867A-4A45-BE1B-2125BB1E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480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明确维护数据源：评测工作台、任务、测试记录、版本记录和运行日志。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2ED2E2-A2C7-40C5-BE5C-11CEE9E9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315B1D-DBAA-4CB1-9B49-BFA12CC7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定义日志证据、指标分析、失败归因、指令/模板修订和复测智能体的分工。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C84BE2-7369-448C-AB8F-D7A00A57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48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80680B-7218-4E06-BB6D-22A0C133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624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形成错误处理、修订、复测、关闭或升级代码缺陷的标准流程。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D20F5B-D9FE-4C18-9D35-7B6E5898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9906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5BEA37-FF46-497C-9E82-28D4FFFC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95925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这一线工作让后续优化从经验处理变成闭环治理，支撑玉柴和星云工程师持续改进。</a:t>
            </a:r>
          </a:p>
        </p:txBody>
      </p:sp>
    </p:spTree>
    <p:extLst>
      <p:ext uri="{BB962C8B-B14F-4D97-AF65-F5344CB8AC3E}">
        <p14:creationId xmlns:p14="http://schemas.microsoft.com/office/powerpoint/2010/main" val="4071116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510CA3-2E73-43F5-A316-5398674E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9E9E"/>
                </a:solidFill>
              </a:defRPr>
            </a:pPr>
            <a:r>
              <a:rPr sz="1125" b="1">
                <a:solidFill>
                  <a:srgbClr val="079E9E"/>
                </a:solidFill>
              </a:rPr>
              <a:t>阶段结果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432A6-9A4C-4191-A490-CC1AE6EC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033"/>
                </a:solidFill>
              </a:defRPr>
            </a:pPr>
            <a:r>
              <a:rPr sz="2700" b="1">
                <a:solidFill>
                  <a:srgbClr val="132033"/>
                </a:solidFill>
              </a:rPr>
              <a:t>阶段结果：在七条工作线基础上形成的阶段成效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F1338-5987-4D97-B9BA-94669D33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3B575-81CB-4540-8D4C-C4C11F68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零件设计智能体优化工作  |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0C8FA-D152-4291-8D4F-AA304D6E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严格按623执行安排版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53169-DD92-4221-8018-A432E7A2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287"/>
                </a:solidFill>
              </a:defRPr>
            </a:pPr>
            <a:r>
              <a:rPr sz="1350" b="0">
                <a:solidFill>
                  <a:srgbClr val="637287"/>
                </a:solidFill>
              </a:rPr>
              <a:t>以下结果放在工作线之后，用于说明623安排形成的阶段效果，而不是替代前面的工作过程。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2B125-F014-4D0F-B353-78D8451E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0F554-9532-49B2-BC19-0C946562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31D10-C88E-4657-B8EF-D58EBB79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33"/>
                </a:solidFill>
              </a:defRPr>
            </a:pPr>
            <a:r>
              <a:rPr sz="1500" b="1">
                <a:solidFill>
                  <a:srgbClr val="132033"/>
                </a:solidFill>
              </a:rPr>
              <a:t>多系统任务抓取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2EF97-155E-4EA3-9CF8-AE60D68E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5A96"/>
                </a:solidFill>
              </a:defRPr>
            </a:pPr>
            <a:r>
              <a:rPr sz="1800" b="1">
                <a:solidFill>
                  <a:srgbClr val="215A96"/>
                </a:solidFill>
              </a:rPr>
              <a:t>约37.6 → 约99.2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A4858-BB0B-4E54-A1B2-219C7B25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任务检索、列表展示、来源标注和用户选择能力明显提升。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0C0A9-6C10-4B87-BE8E-1B63525F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B6278-1DEC-476E-A28C-637DAFC3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2822E-C961-41EC-A9F0-36D0E642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33"/>
                </a:solidFill>
              </a:defRPr>
            </a:pPr>
            <a:r>
              <a:rPr sz="1500" b="1">
                <a:solidFill>
                  <a:srgbClr val="132033"/>
                </a:solidFill>
              </a:rPr>
              <a:t>TC/NX模板调用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DF125-7379-43F5-BE69-43AEEE5C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527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9E9E"/>
                </a:solidFill>
              </a:defRPr>
            </a:pPr>
            <a:r>
              <a:rPr sz="1800" b="1">
                <a:solidFill>
                  <a:srgbClr val="079E9E"/>
                </a:solidFill>
              </a:rPr>
              <a:t>100分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0EEBD-A9B3-4D4E-B7D0-34101E2E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推荐模板、打开模型、确认当前工作对象流程基本稳定。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252AE-D5BE-4101-AE5F-5D5CB1EE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A4CDA-0EAC-48AF-8968-4EC46A86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F1D376-1EBC-4808-BF79-6DB6CF90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33"/>
                </a:solidFill>
              </a:defRPr>
            </a:pPr>
            <a:r>
              <a:rPr sz="1500" b="1">
                <a:solidFill>
                  <a:srgbClr val="132033"/>
                </a:solidFill>
              </a:rPr>
              <a:t>参数化建模回传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5F8B80-C7C4-4115-812A-F22F0663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337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4D"/>
                </a:solidFill>
              </a:defRPr>
            </a:pPr>
            <a:r>
              <a:rPr sz="1800" b="1">
                <a:solidFill>
                  <a:srgbClr val="2F7D4D"/>
                </a:solidFill>
              </a:rPr>
              <a:t>100分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CB1428-8713-49FB-9EEF-A14D3251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参数写入、回读或“无需写入”判断具备复核基础。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C5C45-AB02-4C5A-9CA7-85205599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E98AC-3CD3-45DD-A8C8-9098890F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0AEF47-6ABE-412F-962E-52596193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33"/>
                </a:solidFill>
              </a:defRPr>
            </a:pPr>
            <a:r>
              <a:rPr sz="1500" b="1">
                <a:solidFill>
                  <a:srgbClr val="132033"/>
                </a:solidFill>
              </a:rPr>
              <a:t>设计说明书生成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287F1-0690-4A69-B660-C126B485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148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6F15"/>
                </a:solidFill>
              </a:defRPr>
            </a:pPr>
            <a:r>
              <a:rPr sz="1800" b="1">
                <a:solidFill>
                  <a:srgbClr val="B96F15"/>
                </a:solidFill>
              </a:rPr>
              <a:t>约95.2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43FFBE-23C5-4532-A2BD-09F97E72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23/23槽位填充，Front/Right/Left/Isometric截图证据齐全。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9E636B-1E7F-497F-BB70-69399BFE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ED359C-C7BE-4962-8870-B7A61142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53032E-50F2-4CD4-9541-AD45D9C4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33"/>
                </a:solidFill>
              </a:defRPr>
            </a:pPr>
            <a:r>
              <a:rPr sz="1500" b="1">
                <a:solidFill>
                  <a:srgbClr val="132033"/>
                </a:solidFill>
              </a:rPr>
              <a:t>DFMEA自动编写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CB95ED-2463-4D0D-B9D8-368DC0FA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95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443D"/>
                </a:solidFill>
              </a:defRPr>
            </a:pPr>
            <a:r>
              <a:rPr sz="1800" b="1">
                <a:solidFill>
                  <a:srgbClr val="B9443D"/>
                </a:solidFill>
              </a:rPr>
              <a:t>约43.8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73AFBF-C9EA-4CAF-8E03-BD6FEC89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24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可生成7项风险及文件证据，但模板覆盖和校验完整度仍需加强。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FDE1E0-0D2D-4234-B52F-B6393F68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37287"/>
                </a:solidFill>
              </a:defRPr>
            </a:pPr>
            <a:r>
              <a:rPr sz="1275" b="1">
                <a:solidFill>
                  <a:srgbClr val="637287"/>
                </a:solidFill>
              </a:rPr>
              <a:t>阶段判断：关键链路具备可演示、可复测基础；外部接口稳定性、TC真实写入、报告/DFMEA耗时仍需专项跟进。</a:t>
            </a:r>
          </a:p>
        </p:txBody>
      </p:sp>
    </p:spTree>
    <p:extLst>
      <p:ext uri="{BB962C8B-B14F-4D97-AF65-F5344CB8AC3E}">
        <p14:creationId xmlns:p14="http://schemas.microsoft.com/office/powerpoint/2010/main" val="929139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4AF445-7006-4636-8A64-7E1F34F9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9E9E"/>
                </a:solidFill>
              </a:defRPr>
            </a:pPr>
            <a:r>
              <a:rPr sz="1125" b="1">
                <a:solidFill>
                  <a:srgbClr val="079E9E"/>
                </a:solidFill>
              </a:rPr>
              <a:t>演示与下一步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4DBE2-E0D9-4DE6-A95A-A3B6984E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32033"/>
                </a:solidFill>
              </a:defRPr>
            </a:pPr>
            <a:r>
              <a:rPr sz="2700" b="1">
                <a:solidFill>
                  <a:srgbClr val="132033"/>
                </a:solidFill>
              </a:rPr>
              <a:t>演示内容与后续推进：对应623工作线收束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3022E-3407-4C8D-8CA8-5B667762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8A437-95D0-409E-91B4-6FAC246A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零件设计智能体优化工作  | 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1D1BF-4AB1-4709-B94B-5663E295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960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287"/>
                </a:solidFill>
              </a:defRPr>
            </a:pPr>
            <a:r>
              <a:rPr sz="975" b="0">
                <a:solidFill>
                  <a:srgbClr val="637287"/>
                </a:solidFill>
              </a:rPr>
              <a:t>严格按623执行安排版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8CA6B-8E72-4DA6-A3C4-F4EF4F21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81025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8CD8C-5141-47B8-98E9-94BF9495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033"/>
                </a:solidFill>
              </a:defRPr>
            </a:pPr>
            <a:r>
              <a:rPr sz="1800" b="1">
                <a:solidFill>
                  <a:srgbClr val="132033"/>
                </a:solidFill>
              </a:rPr>
              <a:t>演示建议按623逻辑组织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41C46-2D25-4A43-8660-05D278AA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5A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EF2E6-230C-4124-ACB4-B54ED5B0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3FAD30-5033-411C-959B-71BE2E3E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241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33"/>
                </a:solidFill>
              </a:defRPr>
            </a:pPr>
            <a:r>
              <a:rPr sz="1500" b="1">
                <a:solidFill>
                  <a:srgbClr val="132033"/>
                </a:solidFill>
              </a:rPr>
              <a:t>接口入口与任务抓取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5F9FF-15AA-42EF-91FE-97BD5CCD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289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287"/>
                </a:solidFill>
              </a:defRPr>
            </a:pPr>
            <a:r>
              <a:rPr sz="1200" b="0">
                <a:solidFill>
                  <a:srgbClr val="637287"/>
                </a:solidFill>
              </a:rPr>
              <a:t>展示IPM/QPP/ECMS/TC入口边界和任务候选确认。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99835-6DDC-4437-8831-5C79CEAB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91F99-D1D2-4ACE-B2EB-12F8AC1F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99ABC-8736-4985-BFDC-578D6CB0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480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33"/>
                </a:solidFill>
              </a:defRPr>
            </a:pPr>
            <a:r>
              <a:rPr sz="1500" b="1">
                <a:solidFill>
                  <a:srgbClr val="132033"/>
                </a:solidFill>
              </a:rPr>
              <a:t>模板与参数链路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AE0B9-AE53-495C-A563-4794105E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52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287"/>
                </a:solidFill>
              </a:defRPr>
            </a:pPr>
            <a:r>
              <a:rPr sz="1200" b="0">
                <a:solidFill>
                  <a:srgbClr val="637287"/>
                </a:solidFill>
              </a:rPr>
              <a:t>展示TC候选、NX WorkPart确认、参数证据和写入计划。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FD18B-4200-450D-991B-7FCCCEA8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52B57-7786-49CA-9254-1FEF1CB5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937EAD-7821-428A-BE8F-6CB9CC95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719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33"/>
                </a:solidFill>
              </a:defRPr>
            </a:pPr>
            <a:r>
              <a:rPr sz="1500" b="1">
                <a:solidFill>
                  <a:srgbClr val="132033"/>
                </a:solidFill>
              </a:rPr>
              <a:t>建模回读与文件证据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AEF2BD-A21F-46E3-B5BC-13FB491C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76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287"/>
                </a:solidFill>
              </a:defRPr>
            </a:pPr>
            <a:r>
              <a:rPr sz="1200" b="0">
                <a:solidFill>
                  <a:srgbClr val="637287"/>
                </a:solidFill>
              </a:rPr>
              <a:t>展示确认后写入、回读、保存、截图和路径证据。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769151-2ABD-4A6F-A29F-89E720B6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14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28AF67-FF5D-421E-B82E-66ACA32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9301C2-FDD7-402B-B80E-33D5EE64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958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033"/>
                </a:solidFill>
              </a:defRPr>
            </a:pPr>
            <a:r>
              <a:rPr sz="1500" b="1">
                <a:solidFill>
                  <a:srgbClr val="132033"/>
                </a:solidFill>
              </a:rPr>
              <a:t>报告与DFMEA输出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7E4A12-1EA4-4774-AF07-21DE3C7D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006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287"/>
                </a:solidFill>
              </a:defRPr>
            </a:pPr>
            <a:r>
              <a:rPr sz="1200" b="0">
                <a:solidFill>
                  <a:srgbClr val="637287"/>
                </a:solidFill>
              </a:rPr>
              <a:t>展示说明书、DFMEA文件、风险项和校验信息。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DD44C-3DC1-40CB-9C83-51FFAA0A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66850"/>
            <a:ext cx="4438650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490876-CA90-4D71-A6B1-1D93EF8B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033"/>
                </a:solidFill>
              </a:defRPr>
            </a:pPr>
            <a:r>
              <a:rPr sz="1800" b="1">
                <a:solidFill>
                  <a:srgbClr val="132033"/>
                </a:solidFill>
              </a:rPr>
              <a:t>后续推进重点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93411C-2CD2-4540-8072-6C5668E1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86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08F6DB-3351-4CEA-B722-C39B68E6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0030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继续完善四大系统接口异常分类和来源标注。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7CF1B9-C843-40DB-878E-CB0938A3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76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80F597-5216-4B63-AA2D-F48A766E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908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补齐TC上传、复制、覆盖等真实写入场景验收。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D0EC5A-B2AE-4C9D-8A93-6C7AFFA8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67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049ACA-E91A-49BD-A0A6-BC93011F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8140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优化说明书和DFMEA长流程响应时间及校验完整度。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D7934C-0706-46CE-828C-D06FED40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5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E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4E09C7-FF8B-46F4-BB46-974700A4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719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D3A4B"/>
                </a:solidFill>
              </a:defRPr>
            </a:pPr>
            <a:r>
              <a:rPr sz="1275" b="0">
                <a:solidFill>
                  <a:srgbClr val="2D3A4B"/>
                </a:solidFill>
              </a:rPr>
              <a:t>把失败处理闭环常态化，形成版本化复测记录和关闭依据。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C764E8-31A7-4985-B364-7140ADFF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0673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F52D6C-A4CC-4885-BC7A-813EFAD0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768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5A96"/>
                </a:solidFill>
              </a:defRPr>
            </a:pPr>
            <a:r>
              <a:rPr sz="1350" b="1">
                <a:solidFill>
                  <a:srgbClr val="215A96"/>
                </a:solidFill>
              </a:rPr>
              <a:t>收束口径：七条工作线已形成方法、产出、评测闭环，阶段效果有证据支撑。</a:t>
            </a:r>
          </a:p>
        </p:txBody>
      </p:sp>
    </p:spTree>
    <p:extLst>
      <p:ext uri="{BB962C8B-B14F-4D97-AF65-F5344CB8AC3E}">
        <p14:creationId xmlns:p14="http://schemas.microsoft.com/office/powerpoint/2010/main" val="481530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2026-06-25T19:15:38.2010000Z</dcterms:created>
  <dcterms:modified xsi:type="dcterms:W3CDTF">2026-06-25T19:15:38.2010000Z</dcterms:modified>
</coreProperties>
</file>